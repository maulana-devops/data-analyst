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FINAL PROJECT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Coffee Shop Sales Dataset - 2023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Week 7 - Exploratory Data Analysis Advanced</a:t>
            </a:r>
          </a:p>
          <a:p>
            <a:pPr>
              <a:spcAft>
                <a:spcPts val="1200"/>
              </a:spcAft>
              <a:defRPr sz="1800"/>
            </a:pPr>
            <a:r>
              <a:t>Dataset: 10,000 transaksi</a:t>
            </a:r>
          </a:p>
          <a:p>
            <a:pPr>
              <a:spcAft>
                <a:spcPts val="1200"/>
              </a:spcAft>
              <a:defRPr sz="1800"/>
            </a:pPr>
            <a:r>
              <a:t>Total Revenue: 88,779.50</a:t>
            </a:r>
          </a:p>
          <a:p>
            <a:pPr>
              <a:spcAft>
                <a:spcPts val="1200"/>
              </a:spcAft>
              <a:defRPr sz="1800"/>
            </a:pPr>
            <a:r>
              <a:t>Junior Data Analyst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Gambaran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Jumlah data: 10,000 baris dan 10 kolom.</a:t>
            </a:r>
          </a:p>
          <a:p>
            <a:pPr>
              <a:spcAft>
                <a:spcPts val="1200"/>
              </a:spcAft>
              <a:defRPr sz="1800"/>
            </a:pPr>
            <a:r>
              <a:t>Dataset berisi transaksi coffee shop tahun 2023.</a:t>
            </a:r>
          </a:p>
          <a:p>
            <a:pPr>
              <a:spcAft>
                <a:spcPts val="1200"/>
              </a:spcAft>
              <a:defRPr sz="1800"/>
            </a:pPr>
            <a:r>
              <a:t>Variabel utama: Item, Quantity, Price_Per_Unit, Total_Spent.</a:t>
            </a:r>
          </a:p>
          <a:p>
            <a:pPr>
              <a:spcAft>
                <a:spcPts val="1200"/>
              </a:spcAft>
              <a:defRPr sz="1800"/>
            </a:pPr>
            <a:r>
              <a:t>Dimensi tambahan: Payment_Method, Location, Transaction_Date.</a:t>
            </a:r>
          </a:p>
          <a:p>
            <a:pPr>
              <a:spcAft>
                <a:spcPts val="1200"/>
              </a:spcAft>
              <a:defRPr sz="1800"/>
            </a:pPr>
            <a:r>
              <a:t>Duplicate rows: 0.</a:t>
            </a:r>
          </a:p>
          <a:p>
            <a:pPr>
              <a:spcAft>
                <a:spcPts val="1200"/>
              </a:spcAft>
              <a:defRPr sz="1800"/>
            </a:pPr>
            <a:r>
              <a:t>Missing Transaction_Date: 460 baris.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Statistik Deskriptif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Mean Total_Spent: 8.88.</a:t>
            </a:r>
          </a:p>
          <a:p>
            <a:pPr>
              <a:spcAft>
                <a:spcPts val="1200"/>
              </a:spcAft>
              <a:defRPr sz="1800"/>
            </a:pPr>
            <a:r>
              <a:t>Median Total_Spent: 8.00.</a:t>
            </a:r>
          </a:p>
          <a:p>
            <a:pPr>
              <a:spcAft>
                <a:spcPts val="1200"/>
              </a:spcAft>
              <a:defRPr sz="1800"/>
            </a:pPr>
            <a:r>
              <a:t>Mean Quantity: 3.03.</a:t>
            </a:r>
          </a:p>
          <a:p>
            <a:pPr>
              <a:spcAft>
                <a:spcPts val="1200"/>
              </a:spcAft>
              <a:defRPr sz="1800"/>
            </a:pPr>
            <a:r>
              <a:t>Mean Price_Per_Unit: 2.95.</a:t>
            </a:r>
          </a:p>
          <a:p>
            <a:pPr>
              <a:spcAft>
                <a:spcPts val="1200"/>
              </a:spcAft>
              <a:defRPr sz="1800"/>
            </a:pPr>
            <a:r>
              <a:t>Total Quantity: 30,271.</a:t>
            </a:r>
          </a:p>
          <a:p>
            <a:pPr>
              <a:spcAft>
                <a:spcPts val="1200"/>
              </a:spcAft>
              <a:defRPr sz="1800"/>
            </a:pPr>
            <a:r>
              <a:t>Median digunakan bersama mean karena terdapat outlier.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Tren Penjualan 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Revenue bulanan menunjukkan pola fluktuatif.</a:t>
            </a:r>
          </a:p>
        </p:txBody>
      </p:sp>
      <p:pic>
        <p:nvPicPr>
          <p:cNvPr id="4" name="Picture 3" descr="final_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Revenue berdasarkan Produk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Produk tertinggi: SALAD (17,021.00)</a:t>
            </a:r>
          </a:p>
        </p:txBody>
      </p:sp>
      <p:pic>
        <p:nvPicPr>
          <p:cNvPr id="4" name="Picture 3" descr="final_produc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Revenue berdasarkan Lokasi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Lokasi tertinggi: TAKEAWAY (62.68% revenue)</a:t>
            </a:r>
          </a:p>
        </p:txBody>
      </p:sp>
      <p:pic>
        <p:nvPicPr>
          <p:cNvPr id="4" name="Picture 3" descr="final_location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6888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Revenue berdasarkan Payment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Payment method dominan: DIGITAL WALLET (48.38%)</a:t>
            </a:r>
          </a:p>
        </p:txBody>
      </p:sp>
      <p:pic>
        <p:nvPicPr>
          <p:cNvPr id="4" name="Picture 3" descr="final_payment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61996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Quantity vs Total_Spent: r=0.6688 | Price vs Total_Spent: r=0.6124</a:t>
            </a:r>
          </a:p>
        </p:txBody>
      </p:sp>
      <p:pic>
        <p:nvPicPr>
          <p:cNvPr id="4" name="Picture 3" descr="final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88566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Insight Penting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SALAD menjadi produk dengan revenue terbesar.</a:t>
            </a:r>
          </a:p>
          <a:p>
            <a:pPr>
              <a:spcAft>
                <a:spcPts val="1200"/>
              </a:spcAft>
              <a:defRPr sz="1800"/>
            </a:pPr>
            <a:r>
              <a:t>TAKEAWAY menjadi lokasi dengan revenue terbesar.</a:t>
            </a:r>
          </a:p>
          <a:p>
            <a:pPr>
              <a:spcAft>
                <a:spcPts val="1200"/>
              </a:spcAft>
              <a:defRPr sz="1800"/>
            </a:pPr>
            <a:r>
              <a:t>DIGITAL WALLET menjadi payment method dominan.</a:t>
            </a:r>
          </a:p>
          <a:p>
            <a:pPr>
              <a:spcAft>
                <a:spcPts val="1200"/>
              </a:spcAft>
              <a:defRPr sz="1800"/>
            </a:pPr>
            <a:r>
              <a:t>October menjadi bulan revenue tertinggi.</a:t>
            </a:r>
          </a:p>
          <a:p>
            <a:pPr>
              <a:spcAft>
                <a:spcPts val="1200"/>
              </a:spcAft>
              <a:defRPr sz="1800"/>
            </a:pPr>
            <a:r>
              <a:t>February menjadi bulan revenue terendah.</a:t>
            </a:r>
          </a:p>
          <a:p>
            <a:pPr>
              <a:spcAft>
                <a:spcPts val="1200"/>
              </a:spcAft>
              <a:defRPr sz="1800"/>
            </a:pPr>
            <a:r>
              <a:t>Quantity memiliki korelasi positif sebesar 0.6688 terhadap Total_Spent.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Permasalahan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460 transaksi memiliki Transaction_Date kosong.</a:t>
            </a:r>
          </a:p>
          <a:p>
            <a:pPr>
              <a:spcAft>
                <a:spcPts val="1200"/>
              </a:spcAft>
              <a:defRPr sz="1800"/>
            </a:pPr>
            <a:r>
              <a:t>344 Item bernilai UNKNOWN.</a:t>
            </a:r>
          </a:p>
          <a:p>
            <a:pPr>
              <a:spcAft>
                <a:spcPts val="1200"/>
              </a:spcAft>
              <a:defRPr sz="1800"/>
            </a:pPr>
            <a:r>
              <a:t>292 Item bernilai ERROR.</a:t>
            </a:r>
          </a:p>
          <a:p>
            <a:pPr>
              <a:spcAft>
                <a:spcPts val="1200"/>
              </a:spcAft>
              <a:defRPr sz="1800"/>
            </a:pPr>
            <a:r>
              <a:t>293 Payment Method UNKNOWN.</a:t>
            </a:r>
          </a:p>
          <a:p>
            <a:pPr>
              <a:spcAft>
                <a:spcPts val="1200"/>
              </a:spcAft>
              <a:defRPr sz="1800"/>
            </a:pPr>
            <a:r>
              <a:t>306 Payment Method ERROR.</a:t>
            </a:r>
          </a:p>
          <a:p>
            <a:pPr>
              <a:spcAft>
                <a:spcPts val="1200"/>
              </a:spcAft>
              <a:defRPr sz="1800"/>
            </a:pPr>
            <a:r>
              <a:t>338 Location UNKNOWN.</a:t>
            </a:r>
          </a:p>
          <a:p>
            <a:pPr>
              <a:spcAft>
                <a:spcPts val="1200"/>
              </a:spcAft>
              <a:defRPr sz="1800"/>
            </a:pPr>
            <a:r>
              <a:t>358 Location ERROR.</a:t>
            </a:r>
          </a:p>
          <a:p>
            <a:pPr>
              <a:spcAft>
                <a:spcPts val="1200"/>
              </a:spcAft>
              <a:defRPr sz="1800"/>
            </a:pPr>
            <a:r>
              <a:t>UNKNOWN dan ERROR bukan kategori bisnis.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Outlier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Quantity outlier: 0.</a:t>
            </a:r>
          </a:p>
          <a:p>
            <a:pPr>
              <a:spcAft>
                <a:spcPts val="1200"/>
              </a:spcAft>
              <a:defRPr sz="1800"/>
            </a:pPr>
            <a:r>
              <a:t>Price_Per_Unit outlier: 0.</a:t>
            </a:r>
          </a:p>
          <a:p>
            <a:pPr>
              <a:spcAft>
                <a:spcPts val="1200"/>
              </a:spcAft>
              <a:defRPr sz="1800"/>
            </a:pPr>
            <a:r>
              <a:t>Total_Spent outlier: 259.</a:t>
            </a:r>
          </a:p>
          <a:p>
            <a:pPr>
              <a:spcAft>
                <a:spcPts val="1200"/>
              </a:spcAft>
              <a:defRPr sz="1800"/>
            </a:pPr>
            <a:r>
              <a:t>Maximum Total_Spent: 25.00.</a:t>
            </a:r>
          </a:p>
          <a:p>
            <a:pPr>
              <a:spcAft>
                <a:spcPts val="1200"/>
              </a:spcAft>
              <a:defRPr sz="1800"/>
            </a:pPr>
            <a:r>
              <a:t>Outlier tidak otomatis berarti kesalahan.</a:t>
            </a:r>
          </a:p>
          <a:p>
            <a:pPr>
              <a:spcAft>
                <a:spcPts val="1200"/>
              </a:spcAft>
              <a:defRPr sz="1800"/>
            </a:pPr>
            <a:r>
              <a:t>Transaksi ekstrem perlu divalidasi berdasarkan konteks.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Peluang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Optimasi produk SALAD sebagai produk prioritas.</a:t>
            </a:r>
          </a:p>
          <a:p>
            <a:pPr>
              <a:spcAft>
                <a:spcPts val="1200"/>
              </a:spcAft>
              <a:defRPr sz="1800"/>
            </a:pPr>
            <a:r>
              <a:t>Pengembangan bundling untuk meningkatkan nilai transaksi.</a:t>
            </a:r>
          </a:p>
          <a:p>
            <a:pPr>
              <a:spcAft>
                <a:spcPts val="1200"/>
              </a:spcAft>
              <a:defRPr sz="1800"/>
            </a:pPr>
            <a:r>
              <a:t>Optimasi operasional channel TAKEAWAY.</a:t>
            </a:r>
          </a:p>
          <a:p>
            <a:pPr>
              <a:spcAft>
                <a:spcPts val="1200"/>
              </a:spcAft>
              <a:defRPr sz="1800"/>
            </a:pPr>
            <a:r>
              <a:t>Pertahankan kemudahan pembayaran DIGITAL WALLET.</a:t>
            </a:r>
          </a:p>
          <a:p>
            <a:pPr>
              <a:spcAft>
                <a:spcPts val="1200"/>
              </a:spcAft>
              <a:defRPr sz="1800"/>
            </a:pPr>
            <a:r>
              <a:t>Evaluasi strategi pada bulan February.</a:t>
            </a:r>
          </a:p>
          <a:p>
            <a:pPr>
              <a:spcAft>
                <a:spcPts val="1200"/>
              </a:spcAft>
              <a:defRPr sz="1800"/>
            </a:pPr>
            <a:r>
              <a:t>Monitoring penjualan melalui dashboard secara berkala.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Business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1. Prioritaskan stok dan promosi produk dengan revenue tinggi.</a:t>
            </a:r>
          </a:p>
          <a:p>
            <a:pPr>
              <a:spcAft>
                <a:spcPts val="1200"/>
              </a:spcAft>
              <a:defRPr sz="1800"/>
            </a:pPr>
            <a:r>
              <a:t>2. Jaga kapasitas operasional channel dengan volume tinggi.</a:t>
            </a:r>
          </a:p>
          <a:p>
            <a:pPr>
              <a:spcAft>
                <a:spcPts val="1200"/>
              </a:spcAft>
              <a:defRPr sz="1800"/>
            </a:pPr>
            <a:r>
              <a:t>3. Pastikan sistem pembayaran digital tetap reliable.</a:t>
            </a:r>
          </a:p>
          <a:p>
            <a:pPr>
              <a:spcAft>
                <a:spcPts val="1200"/>
              </a:spcAft>
              <a:defRPr sz="1800"/>
            </a:pPr>
            <a:r>
              <a:t>4. Gunakan median bersama mean untuk monitoring.</a:t>
            </a:r>
          </a:p>
          <a:p>
            <a:pPr>
              <a:spcAft>
                <a:spcPts val="1200"/>
              </a:spcAft>
              <a:defRPr sz="1800"/>
            </a:pPr>
            <a:r>
              <a:t>5. Validasi outlier sebelum melakukan penghapusan.</a:t>
            </a:r>
          </a:p>
          <a:p>
            <a:pPr>
              <a:spcAft>
                <a:spcPts val="1200"/>
              </a:spcAft>
              <a:defRPr sz="1800"/>
            </a:pPr>
            <a:r>
              <a:t>6. Perbaiki validasi data untuk mengurangi UNKNOWN/ERROR.</a:t>
            </a:r>
          </a:p>
          <a:p>
            <a:pPr>
              <a:spcAft>
                <a:spcPts val="1200"/>
              </a:spcAft>
              <a:defRPr sz="1800"/>
            </a:pPr>
            <a:r>
              <a:t>7. Bangun monitoring dashboard secara berkala.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Total revenue dataset: 88,779.50.</a:t>
            </a:r>
          </a:p>
          <a:p>
            <a:pPr>
              <a:spcAft>
                <a:spcPts val="1200"/>
              </a:spcAft>
              <a:defRPr sz="1800"/>
            </a:pPr>
            <a:r>
              <a:t>Produk utama: SALAD.</a:t>
            </a:r>
          </a:p>
          <a:p>
            <a:pPr>
              <a:spcAft>
                <a:spcPts val="1200"/>
              </a:spcAft>
              <a:defRPr sz="1800"/>
            </a:pPr>
            <a:r>
              <a:t>Channel utama: TAKEAWAY.</a:t>
            </a:r>
          </a:p>
          <a:p>
            <a:pPr>
              <a:spcAft>
                <a:spcPts val="1200"/>
              </a:spcAft>
              <a:defRPr sz="1800"/>
            </a:pPr>
            <a:r>
              <a:t>Payment method utama: DIGITAL WALLET.</a:t>
            </a:r>
          </a:p>
          <a:p>
            <a:pPr>
              <a:spcAft>
                <a:spcPts val="1200"/>
              </a:spcAft>
              <a:defRPr sz="1800"/>
            </a:pPr>
            <a:r>
              <a:t>Penjualan bulanan bersifat fluktuatif.</a:t>
            </a:r>
          </a:p>
          <a:p>
            <a:pPr>
              <a:spcAft>
                <a:spcPts val="1200"/>
              </a:spcAft>
              <a:defRPr sz="1800"/>
            </a:pPr>
            <a:r>
              <a:t>Quantity dan Price_Per_Unit memiliki hubungan positif dengan Total_Spent.</a:t>
            </a:r>
          </a:p>
          <a:p>
            <a:pPr>
              <a:spcAft>
                <a:spcPts val="1200"/>
              </a:spcAft>
              <a:defRPr sz="1800"/>
            </a:pPr>
            <a:r>
              <a:t>Peningkatan kualitas data merupakan prioritas penting.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Final Project -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