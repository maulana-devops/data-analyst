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Transaksi per Item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Jumlah Transaksi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JUICE</c:v>
                </c:pt>
                <c:pt idx="1">
                  <c:v>COFFEE</c:v>
                </c:pt>
                <c:pt idx="2">
                  <c:v>SALAD</c:v>
                </c:pt>
                <c:pt idx="3">
                  <c:v>CAKE</c:v>
                </c:pt>
                <c:pt idx="4">
                  <c:v>SANDWICH</c:v>
                </c:pt>
                <c:pt idx="5">
                  <c:v>SMOOTHIE</c:v>
                </c:pt>
                <c:pt idx="6">
                  <c:v>COOKIE</c:v>
                </c:pt>
                <c:pt idx="7">
                  <c:v>TEA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1504</c:v>
                </c:pt>
                <c:pt idx="1">
                  <c:v>1165</c:v>
                </c:pt>
                <c:pt idx="2">
                  <c:v>1148</c:v>
                </c:pt>
                <c:pt idx="3">
                  <c:v>1139</c:v>
                </c:pt>
                <c:pt idx="4">
                  <c:v>1131</c:v>
                </c:pt>
                <c:pt idx="5">
                  <c:v>1096</c:v>
                </c:pt>
                <c:pt idx="6">
                  <c:v>1092</c:v>
                </c:pt>
                <c:pt idx="7">
                  <c:v>1089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Rata-rata Total Spent per Item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Total Spent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SALAD</c:v>
                </c:pt>
                <c:pt idx="1">
                  <c:v>SMOOTHIE</c:v>
                </c:pt>
                <c:pt idx="2">
                  <c:v>SANDWICH</c:v>
                </c:pt>
                <c:pt idx="3">
                  <c:v>CAKE</c:v>
                </c:pt>
                <c:pt idx="4">
                  <c:v>JUICE</c:v>
                </c:pt>
                <c:pt idx="5">
                  <c:v>COFFEE</c:v>
                </c:pt>
                <c:pt idx="6">
                  <c:v>TEA</c:v>
                </c:pt>
                <c:pt idx="7">
                  <c:v>COOKIE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14.83</c:v>
                </c:pt>
                <c:pt idx="1">
                  <c:v>11.98</c:v>
                </c:pt>
                <c:pt idx="2">
                  <c:v>11.92</c:v>
                </c:pt>
                <c:pt idx="3">
                  <c:v>9.08</c:v>
                </c:pt>
                <c:pt idx="4">
                  <c:v>8.94</c:v>
                </c:pt>
                <c:pt idx="5">
                  <c:v>6.17</c:v>
                </c:pt>
                <c:pt idx="6">
                  <c:v>4.7</c:v>
                </c:pt>
                <c:pt idx="7">
                  <c:v>3.23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MINI PROJECT — EDA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Exploratory Data Analysis pada Dataset Transaksi Café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Week 6 — Hari Jumat | 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Jumlah Transaksi</a:t>
            </a:r>
          </a:p>
          <a:p>
            <a:pPr algn="ctr"/>
            <a:r>
              <a:rPr sz="2500" b="1"/>
              <a:t>10.000</a:t>
            </a:r>
          </a:p>
          <a:p>
            <a:pPr algn="ctr"/>
            <a:r>
              <a:rPr sz="1000"/>
              <a:t>rows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Jumlah Variabel</a:t>
            </a:r>
          </a:p>
          <a:p>
            <a:pPr algn="ctr"/>
            <a:r>
              <a:rPr sz="2500" b="1"/>
              <a:t>10</a:t>
            </a:r>
          </a:p>
          <a:p>
            <a:pPr algn="ctr"/>
            <a:r>
              <a:rPr sz="1000"/>
              <a:t>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Periode Data</a:t>
            </a:r>
          </a:p>
          <a:p>
            <a:pPr algn="ctr"/>
            <a:r>
              <a:rPr sz="2500" b="1"/>
              <a:t>2023</a:t>
            </a:r>
          </a:p>
          <a:p>
            <a:pPr algn="ctr"/>
            <a:r>
              <a:rPr sz="1000"/>
              <a:t>1 tahun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Dataset berisi data transaksi café.</a:t>
            </a:r>
          </a:p>
          <a:p>
            <a:pPr>
              <a:spcAft>
                <a:spcPts val="1200"/>
              </a:spcAft>
              <a:defRPr sz="2000"/>
            </a:pPr>
            <a:r>
              <a:t>Variabel numerik utama: Quantity, Price_Per_Unit, dan Total_Spent.</a:t>
            </a:r>
          </a:p>
          <a:p>
            <a:pPr>
              <a:spcAft>
                <a:spcPts val="1200"/>
              </a:spcAft>
              <a:defRPr sz="2000"/>
            </a:pPr>
            <a:r>
              <a:t>Variabel kategorikal: Item, Payment_Method, dan Location.</a:t>
            </a:r>
          </a:p>
          <a:p>
            <a:pPr>
              <a:spcAft>
                <a:spcPts val="1200"/>
              </a:spcAft>
              <a:defRPr sz="2000"/>
            </a:pPr>
            <a:r>
              <a:t>Tidak ditemukan duplicate row.</a:t>
            </a:r>
          </a:p>
          <a:p>
            <a:pPr>
              <a:spcAft>
                <a:spcPts val="1200"/>
              </a:spcAft>
              <a:defRPr sz="2000"/>
            </a:pPr>
            <a:r>
              <a:t>Transaction_ID digunakan sebagai identifier dan tidak digunakan dalam analisis statistik.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Statistik Deskriptif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38328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Mean Quantity</a:t>
            </a:r>
          </a:p>
          <a:p>
            <a:pPr algn="ctr"/>
            <a:r>
              <a:rPr sz="2500" b="1"/>
              <a:t>3.03</a:t>
            </a:r>
          </a:p>
          <a:p>
            <a:pPr algn="ctr"/>
            <a:r>
              <a:rPr sz="1000"/>
              <a:t>unit/transaksi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Mean Price</a:t>
            </a:r>
          </a:p>
          <a:p>
            <a:pPr algn="ctr"/>
            <a:r>
              <a:rPr sz="2500" b="1"/>
              <a:t>2.95</a:t>
            </a:r>
          </a:p>
          <a:p>
            <a:pPr algn="ctr"/>
            <a:r>
              <a:rPr sz="1000"/>
              <a:t>per unit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38328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Mean Total Spent</a:t>
            </a:r>
          </a:p>
          <a:p>
            <a:pPr algn="ctr"/>
            <a:r>
              <a:rPr sz="2500" b="1"/>
              <a:t>8.88</a:t>
            </a:r>
          </a:p>
          <a:p>
            <a:pPr algn="ctr"/>
            <a:r>
              <a:rPr sz="1000"/>
              <a:t>per transaksi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Quantity: median 3, minimum 1, maksimum 5, standar deviasi 1.38.</a:t>
            </a:r>
          </a:p>
          <a:p>
            <a:pPr>
              <a:spcAft>
                <a:spcPts val="1200"/>
              </a:spcAft>
              <a:defRPr sz="2000"/>
            </a:pPr>
            <a:r>
              <a:t>Price_Per_Unit: median 3, minimum 1, maksimum 5, standar deviasi 1.24.</a:t>
            </a:r>
          </a:p>
          <a:p>
            <a:pPr>
              <a:spcAft>
                <a:spcPts val="1200"/>
              </a:spcAft>
              <a:defRPr sz="2000"/>
            </a:pPr>
            <a:r>
              <a:t>Total_Spent: median 8, minimum 1, maksimum 25, standar deviasi 5.86.</a:t>
            </a:r>
          </a:p>
          <a:p>
            <a:pPr>
              <a:spcAft>
                <a:spcPts val="1200"/>
              </a:spcAft>
              <a:defRPr sz="2000"/>
            </a:pPr>
            <a:r>
              <a:t>Total_Spent memiliki variasi paling besar dibandingkan Quantity dan Price_Per_Unit.</a:t>
            </a:r>
          </a:p>
          <a:p>
            <a:pPr>
              <a:spcAft>
                <a:spcPts val="1200"/>
              </a:spcAft>
              <a:defRPr sz="2000"/>
            </a:pPr>
            <a:r>
              <a:t>Untuk Total_Spent, Q1 = 4 dan Q3 = 12 sehingga IQR = 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Visualisasi Utama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280160"/>
          <a:ext cx="539496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Insight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JUICE merupakan item dengan jumlah transaksi terbanyak: 1.504 transaksi.</a:t>
            </a:r>
          </a:p>
          <a:p>
            <a:pPr>
              <a:spcAft>
                <a:spcPts val="1200"/>
              </a:spcAft>
              <a:defRPr sz="2000"/>
            </a:pPr>
            <a:r>
              <a:t>SALAD memiliki rata-rata Total_Spent tertinggi di antara kategori item valid: 14,83.</a:t>
            </a:r>
          </a:p>
          <a:p>
            <a:pPr>
              <a:spcAft>
                <a:spcPts val="1200"/>
              </a:spcAft>
              <a:defRPr sz="2000"/>
            </a:pPr>
            <a:r>
              <a:t>DIGITAL WALLET merupakan metode pembayaran yang paling banyak digunakan: 4.870 transaksi.</a:t>
            </a:r>
          </a:p>
          <a:p>
            <a:pPr>
              <a:spcAft>
                <a:spcPts val="1200"/>
              </a:spcAft>
              <a:defRPr sz="2000"/>
            </a:pPr>
            <a:r>
              <a:t>TAKEAWAY merupakan lokasi transaksi yang paling dominan: 6.287 transaksi.</a:t>
            </a:r>
          </a:p>
          <a:p>
            <a:pPr>
              <a:spcAft>
                <a:spcPts val="1200"/>
              </a:spcAft>
              <a:defRPr sz="2000"/>
            </a:pPr>
            <a:r>
              <a:t>Di antara lokasi valid, rata-rata Total_Spent IN-STORE (8,98) sedikit lebih tinggi daripada TAKEAWAY (8,85).</a:t>
            </a:r>
          </a:p>
          <a:p>
            <a:pPr>
              <a:spcAft>
                <a:spcPts val="1200"/>
              </a:spcAft>
              <a:defRPr sz="2000"/>
            </a:pPr>
            <a:r>
              <a:t>Oktober memiliki total penjualan bulanan tertinggi: 7.336,50.</a:t>
            </a:r>
          </a:p>
          <a:p>
            <a:pPr>
              <a:spcAft>
                <a:spcPts val="1200"/>
              </a:spcAft>
              <a:defRPr sz="2000"/>
            </a:pPr>
            <a:r>
              <a:t>Correlation menunjukkan Quantity memiliki hubungan linear paling kuat dengan Total_Spent.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Correlation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Quantity ↔ Total_Spent</a:t>
            </a:r>
          </a:p>
          <a:p>
            <a:pPr algn="ctr"/>
            <a:r>
              <a:rPr sz="2500" b="1"/>
              <a:t>r = 0.6688</a:t>
            </a:r>
          </a:p>
          <a:p>
            <a:pPr algn="ctr"/>
            <a:r>
              <a:rPr sz="1000"/>
              <a:t>positif, kuat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71600"/>
            <a:ext cx="329184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Price ↔ Total_Spent</a:t>
            </a:r>
          </a:p>
          <a:p>
            <a:pPr algn="ctr"/>
            <a:r>
              <a:rPr sz="2500" b="1"/>
              <a:t>r = 0.6124</a:t>
            </a:r>
          </a:p>
          <a:p>
            <a:pPr algn="ctr"/>
            <a:r>
              <a:rPr sz="1000"/>
              <a:t>positif, kuat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/>
              <a:t>Quantity ↔ Price</a:t>
            </a:r>
          </a:p>
          <a:p>
            <a:pPr algn="ctr"/>
            <a:r>
              <a:rPr sz="2500" b="1"/>
              <a:t>r = 0.0059</a:t>
            </a:r>
          </a:p>
          <a:p>
            <a:pPr algn="ctr"/>
            <a:r>
              <a:rPr sz="1000"/>
              <a:t>sangat lemah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Hubungan linear terkuat dengan Total_Spent adalah Quantity dengan r = 0.6688.</a:t>
            </a:r>
          </a:p>
          <a:p>
            <a:pPr>
              <a:spcAft>
                <a:spcPts val="1200"/>
              </a:spcAft>
              <a:defRPr sz="2000"/>
            </a:pPr>
            <a:r>
              <a:t>Price_Per_Unit juga memiliki korelasi positif dengan Total_Spent, yaitu r = 0.6124.</a:t>
            </a:r>
          </a:p>
          <a:p>
            <a:pPr>
              <a:spcAft>
                <a:spcPts val="1200"/>
              </a:spcAft>
              <a:defRPr sz="2000"/>
            </a:pPr>
            <a:r>
              <a:t>Quantity dan Price_Per_Unit hampir tidak memiliki hubungan linear satu sama lain.</a:t>
            </a:r>
          </a:p>
          <a:p>
            <a:pPr>
              <a:spcAft>
                <a:spcPts val="1200"/>
              </a:spcAft>
              <a:defRPr sz="2000"/>
            </a:pPr>
            <a:r>
              <a:t>Dalam kerangka analisis, Quantity dan Price_Per_Unit diperlakukan sebagai variabel penjelas, sedangkan Total_Spent sebagai outcome.</a:t>
            </a:r>
          </a:p>
          <a:p>
            <a:pPr>
              <a:spcAft>
                <a:spcPts val="1200"/>
              </a:spcAft>
              <a:defRPr sz="2000"/>
            </a:pPr>
            <a:r>
              <a:t>Korelasi menunjukkan hubungan/asosiasi, bukan bukti sebab-akibat.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Potensi Analisis Lanjutan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Trend Analysis — melihat perkembangan transaksi dan Total_Spent dari waktu ke waktu.</a:t>
            </a:r>
          </a:p>
          <a:p>
            <a:pPr>
              <a:spcAft>
                <a:spcPts val="1200"/>
              </a:spcAft>
              <a:defRPr sz="2000"/>
            </a:pPr>
            <a:r>
              <a:t>Segmentasi — membandingkan performa berdasarkan produk, lokasi, dan metode pembayaran.</a:t>
            </a:r>
          </a:p>
          <a:p>
            <a:pPr>
              <a:spcAft>
                <a:spcPts val="1200"/>
              </a:spcAft>
              <a:defRPr sz="2000"/>
            </a:pPr>
            <a:r>
              <a:t>Outlier Analysis — mengidentifikasi transaksi dengan nilai Total_Spent yang tidak biasa.</a:t>
            </a:r>
          </a:p>
          <a:p>
            <a:pPr>
              <a:spcAft>
                <a:spcPts val="1200"/>
              </a:spcAft>
              <a:defRPr sz="2000"/>
            </a:pPr>
            <a:r>
              <a:t>Dashboard — membuat KPI dan visualisasi interaktif untuk monitoring.</a:t>
            </a:r>
          </a:p>
          <a:p>
            <a:pPr>
              <a:spcAft>
                <a:spcPts val="1200"/>
              </a:spcAft>
              <a:defRPr sz="2000"/>
            </a:pPr>
            <a:r>
              <a:t>Business Recommendation — menerjemahkan hasil analisis menjadi rekomendasi yang dapat ditindaklanjuti.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EDA membantu memahami karakteristik dan pola dasar dataset transaksi café.</a:t>
            </a:r>
          </a:p>
          <a:p>
            <a:pPr>
              <a:spcAft>
                <a:spcPts val="1200"/>
              </a:spcAft>
              <a:defRPr sz="2000"/>
            </a:pPr>
            <a:r>
              <a:t>Rata-rata Total_Spent adalah 8,88 dengan median 8.</a:t>
            </a:r>
          </a:p>
          <a:p>
            <a:pPr>
              <a:spcAft>
                <a:spcPts val="1200"/>
              </a:spcAft>
              <a:defRPr sz="2000"/>
            </a:pPr>
            <a:r>
              <a:t>JUICE memiliki jumlah transaksi tertinggi, sedangkan SALAD memiliki rata-rata Total_Spent tertinggi di antara item valid.</a:t>
            </a:r>
          </a:p>
          <a:p>
            <a:pPr>
              <a:spcAft>
                <a:spcPts val="1200"/>
              </a:spcAft>
              <a:defRPr sz="2000"/>
            </a:pPr>
            <a:r>
              <a:t>Quantity memiliki korelasi paling kuat dengan Total_Spent dengan r = 0.6688.</a:t>
            </a:r>
          </a:p>
          <a:p>
            <a:pPr>
              <a:spcAft>
                <a:spcPts val="1200"/>
              </a:spcAft>
              <a:defRPr sz="2000"/>
            </a:pPr>
            <a:r>
              <a:t>Hasil EDA dapat menjadi dasar untuk analisis trend, segmentasi, outlier, dashboard, dan rekomendasi bisnis.</a:t>
            </a:r>
          </a:p>
          <a:p>
            <a:pPr>
              <a:spcAft>
                <a:spcPts val="1200"/>
              </a:spcAft>
              <a:defRPr sz="2000"/>
            </a:pPr>
            <a:r>
              <a:t>Tahap selanjutnya adalah memperdalam pola data dan mengubah insight menjadi keputusan yang lebih actionable.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