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FINAL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Week 9 – Problem Solving &amp; Business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Performa penjualan berfluktuasi dan belum stabil.</a:t>
            </a:r>
          </a:p>
          <a:p>
            <a:pPr>
              <a:spcAft>
                <a:spcPts val="1200"/>
              </a:spcAft>
              <a:defRPr sz="1800"/>
            </a:pPr>
            <a:r>
              <a:t>Februari 2023 merupakan periode dengan sales terendah.</a:t>
            </a:r>
          </a:p>
          <a:p>
            <a:pPr>
              <a:spcAft>
                <a:spcPts val="1200"/>
              </a:spcAft>
              <a:defRPr sz="1800"/>
            </a:pPr>
            <a:r>
              <a:t>Masalah bukan penurunan sales secara terus-menerus.</a:t>
            </a:r>
          </a:p>
          <a:p>
            <a:pPr>
              <a:spcAft>
                <a:spcPts val="1200"/>
              </a:spcAft>
              <a:defRPr sz="1800"/>
            </a:pPr>
            <a:r>
              <a:t>Fokus analisis: memahami fluktuasi dan faktor yang berpotensi berkontribusi.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Bagaimana tren sales berdasarkan waktu?</a:t>
            </a:r>
          </a:p>
          <a:p>
            <a:pPr>
              <a:spcAft>
                <a:spcPts val="1200"/>
              </a:spcAft>
              <a:defRPr sz="1600"/>
            </a:pPr>
            <a:r>
              <a:t>Produk apa yang memberikan kontribusi terbesar?</a:t>
            </a:r>
          </a:p>
          <a:p>
            <a:pPr>
              <a:spcAft>
                <a:spcPts val="1200"/>
              </a:spcAft>
              <a:defRPr sz="1600"/>
            </a:pPr>
            <a:r>
              <a:t>Bagaimana performa berdasarkan lokasi?</a:t>
            </a:r>
          </a:p>
          <a:p>
            <a:pPr>
              <a:spcAft>
                <a:spcPts val="1200"/>
              </a:spcAft>
              <a:defRPr sz="1600"/>
            </a:pPr>
            <a:r>
              <a:t>Bagaimana pola berdasarkan metode pembayaran?</a:t>
            </a:r>
          </a:p>
          <a:p>
            <a:pPr>
              <a:spcAft>
                <a:spcPts val="1200"/>
              </a:spcAft>
              <a:defRPr sz="1600"/>
            </a:pPr>
            <a:r>
              <a:t>Apakah perubahan sales berkaitan dengan orders dan quantity?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KPI Baseline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Total Sales</a:t>
            </a:r>
          </a:p>
          <a:p>
            <a:pPr algn="ctr">
              <a:defRPr sz="2000" b="1"/>
            </a:pPr>
            <a:r>
              <a:t>88,779.50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Orders</a:t>
            </a:r>
          </a:p>
          <a:p>
            <a:pPr algn="ctr">
              <a:defRPr sz="2000" b="1"/>
            </a:pPr>
            <a:r>
              <a:t>10,000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Quantity Sold</a:t>
            </a:r>
          </a:p>
          <a:p>
            <a:pPr algn="ctr">
              <a:defRPr sz="2000" b="1"/>
            </a:pPr>
            <a:r>
              <a:t>30,271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AOV</a:t>
            </a:r>
          </a:p>
          <a:p>
            <a:pPr algn="ctr">
              <a:defRPr sz="2000" b="1"/>
            </a:pPr>
            <a:r>
              <a:t>8.88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Latest Sales Growth Rate: +3.09%</a:t>
            </a:r>
          </a:p>
          <a:p>
            <a:pPr>
              <a:spcAft>
                <a:spcPts val="1200"/>
              </a:spcAft>
              <a:defRPr sz="1700"/>
            </a:pPr>
            <a:r>
              <a:t>Baseline digunakan sebagai pembanding sebelum dan sesudah strategi.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Analysis – Problem Period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February Sales</a:t>
            </a:r>
          </a:p>
          <a:p>
            <a:pPr algn="ctr">
              <a:defRPr sz="2000" b="1"/>
            </a:pPr>
            <a:r>
              <a:t>6,584.00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3716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Orders</a:t>
            </a:r>
          </a:p>
          <a:p>
            <a:pPr algn="ctr">
              <a:defRPr sz="2000" b="1"/>
            </a:pPr>
            <a:r>
              <a:t>727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3716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Quantity</a:t>
            </a:r>
          </a:p>
          <a:p>
            <a:pPr algn="ctr">
              <a:defRPr sz="2000" b="1"/>
            </a:pPr>
            <a:r>
              <a:t>2,248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Sales Growth vs January: -8.82%</a:t>
            </a:r>
          </a:p>
          <a:p>
            <a:pPr>
              <a:spcAft>
                <a:spcPts val="1200"/>
              </a:spcAft>
              <a:defRPr sz="1500"/>
            </a:pPr>
            <a:r>
              <a:t>Orders Growth vs January: -11.12%</a:t>
            </a:r>
          </a:p>
          <a:p>
            <a:pPr>
              <a:spcAft>
                <a:spcPts val="1200"/>
              </a:spcAft>
              <a:defRPr sz="1500"/>
            </a:pPr>
            <a:r>
              <a:t>Quantity Growth vs January: -8.73%</a:t>
            </a:r>
          </a:p>
          <a:p>
            <a:pPr>
              <a:spcAft>
                <a:spcPts val="1200"/>
              </a:spcAft>
              <a:defRPr sz="1500"/>
            </a:pPr>
            <a:r>
              <a:t>AOV Growth vs January: +2.59%</a:t>
            </a:r>
          </a:p>
          <a:p>
            <a:pPr>
              <a:spcAft>
                <a:spcPts val="1200"/>
              </a:spcAft>
              <a:defRPr sz="1500"/>
            </a:pPr>
            <a:r>
              <a:t>Interpretasi: penurunan lebih berkaitan dengan volume transaksi.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Product Analysis – February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SALAD: Sales 1,172.00 | Contribution 17.80%</a:t>
            </a:r>
          </a:p>
          <a:p>
            <a:pPr>
              <a:spcAft>
                <a:spcPts val="1200"/>
              </a:spcAft>
              <a:defRPr sz="1500"/>
            </a:pPr>
            <a:r>
              <a:t>JUICE: Sales 1,057.50 | Contribution 16.06%</a:t>
            </a:r>
          </a:p>
          <a:p>
            <a:pPr>
              <a:spcAft>
                <a:spcPts val="1200"/>
              </a:spcAft>
              <a:defRPr sz="1500"/>
            </a:pPr>
            <a:r>
              <a:t>SANDWICH: Sales 996.00 | Contribution 15.13%</a:t>
            </a:r>
          </a:p>
          <a:p>
            <a:pPr>
              <a:spcAft>
                <a:spcPts val="1200"/>
              </a:spcAft>
              <a:defRPr sz="1500"/>
            </a:pPr>
            <a:r>
              <a:t>SMOOTHIE: Sales 976.00 | Contribution 14.82%</a:t>
            </a:r>
          </a:p>
          <a:p>
            <a:pPr>
              <a:spcAft>
                <a:spcPts val="1200"/>
              </a:spcAft>
              <a:defRPr sz="1500"/>
            </a:pPr>
            <a:r>
              <a:t>CAKE: Sales 687.00 | Contribution 10.43%</a:t>
            </a:r>
          </a:p>
          <a:p>
            <a:pPr>
              <a:spcAft>
                <a:spcPts val="1200"/>
              </a:spcAft>
              <a:defRPr sz="1500"/>
            </a:pPr>
            <a:r>
              <a:t>SALAD menjadi produk dengan kontribusi terbesar.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Segment Analysis – February 2023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5720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Top Location – TAKEAWAY</a:t>
            </a:r>
          </a:p>
          <a:p>
            <a:pPr algn="ctr">
              <a:defRPr sz="2000" b="1"/>
            </a:pPr>
            <a:r>
              <a:t>62.71%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371600"/>
            <a:ext cx="45720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Top Payment – DIGITAL WALLET</a:t>
            </a:r>
          </a:p>
          <a:p>
            <a:pPr algn="ctr">
              <a:defRPr sz="2000" b="1"/>
            </a:pPr>
            <a:r>
              <a:t>49.15%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TAKEAWAY memiliki kontribusi sales terbesar.</a:t>
            </a:r>
          </a:p>
          <a:p>
            <a:pPr>
              <a:spcAft>
                <a:spcPts val="1200"/>
              </a:spcAft>
              <a:defRPr sz="1500"/>
            </a:pPr>
            <a:r>
              <a:t>DIGITAL WALLET memiliki kontribusi pembayaran terbesar.</a:t>
            </a:r>
          </a:p>
          <a:p>
            <a:pPr>
              <a:spcAft>
                <a:spcPts val="1200"/>
              </a:spcAft>
              <a:defRPr sz="1500"/>
            </a:pPr>
            <a:r>
              <a:t>Dominasi segmen merupakan pola distribusi, bukan bukti penyebab penurunan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7. 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RC1 – Perubahan jumlah orders dan quantity antarperiode.</a:t>
            </a:r>
          </a:p>
          <a:p>
            <a:pPr>
              <a:spcAft>
                <a:spcPts val="1200"/>
              </a:spcAft>
              <a:defRPr sz="1500"/>
            </a:pPr>
            <a:r>
              <a:t>RC2 – Kontribusi produk tidak merata.</a:t>
            </a:r>
          </a:p>
          <a:p>
            <a:pPr>
              <a:spcAft>
                <a:spcPts val="1200"/>
              </a:spcAft>
              <a:defRPr sz="1500"/>
            </a:pPr>
            <a:r>
              <a:t>RC3 – Ketergantungan pada lokasi transaksi tertentu.</a:t>
            </a:r>
          </a:p>
          <a:p>
            <a:pPr>
              <a:spcAft>
                <a:spcPts val="1200"/>
              </a:spcAft>
              <a:defRPr sz="1500"/>
            </a:pPr>
            <a:r>
              <a:t>RC4 – Kontribusi metode pembayaran tidak merata.</a:t>
            </a:r>
          </a:p>
          <a:p>
            <a:pPr>
              <a:spcAft>
                <a:spcPts val="1200"/>
              </a:spcAft>
              <a:defRPr sz="1500"/>
            </a:pPr>
            <a:r>
              <a:t>RC5 – Kualitas data transaksi belum sepenuhnya konsisten.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8. Data Quality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Missing Date</a:t>
            </a:r>
          </a:p>
          <a:p>
            <a:pPr algn="ctr">
              <a:defRPr sz="2000" b="1"/>
            </a:pPr>
            <a:r>
              <a:t>460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Item UNKNOWN/ERROR</a:t>
            </a:r>
          </a:p>
          <a:p>
            <a:pPr algn="ctr">
              <a:defRPr sz="2000" b="1"/>
            </a:pPr>
            <a:r>
              <a:t>636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Location UNKNOWN/ERROR</a:t>
            </a:r>
          </a:p>
          <a:p>
            <a:pPr algn="ctr">
              <a:defRPr sz="2000" b="1"/>
            </a:pPr>
            <a:r>
              <a:t>696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7160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Sales Mismatch</a:t>
            </a:r>
          </a:p>
          <a:p>
            <a:pPr algn="ctr">
              <a:defRPr sz="2000" b="1"/>
            </a:pPr>
            <a:r>
              <a:t>11.94%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Terdapat 599 Payment Method UNKNOWN/ERROR.</a:t>
            </a:r>
          </a:p>
          <a:p>
            <a:pPr>
              <a:spcAft>
                <a:spcPts val="1200"/>
              </a:spcAft>
              <a:defRPr sz="1500"/>
            </a:pPr>
            <a:r>
              <a:t>Terdapat 1,194 sales calculation mismatch.</a:t>
            </a:r>
          </a:p>
          <a:p>
            <a:pPr>
              <a:spcAft>
                <a:spcPts val="1200"/>
              </a:spcAft>
              <a:defRPr sz="1500"/>
            </a:pPr>
            <a:r>
              <a:t>Data quality merupakan supporting issue untuk reliability analisis.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9. Alternative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Optimasi produk dengan kontribusi tinggi — Score 4.40 — HIGH</a:t>
            </a:r>
          </a:p>
          <a:p>
            <a:pPr>
              <a:spcAft>
                <a:spcPts val="1200"/>
              </a:spcAft>
              <a:defRPr sz="1600"/>
            </a:pPr>
            <a:r>
              <a:t>2. Menstabilkan volume transaksi pada periode lemah — Score 4.05 — HIGH</a:t>
            </a:r>
          </a:p>
          <a:p>
            <a:pPr>
              <a:spcAft>
                <a:spcPts val="1200"/>
              </a:spcAft>
              <a:defRPr sz="1600"/>
            </a:pPr>
            <a:r>
              <a:t>3. Meningkatkan validasi dan kualitas data — Score 4.00 — MEDIUM</a:t>
            </a:r>
          </a:p>
          <a:p>
            <a:pPr>
              <a:spcAft>
                <a:spcPts val="1200"/>
              </a:spcAft>
              <a:defRPr sz="1600"/>
            </a:pPr>
            <a:r>
              <a:t>4. Meningkatkan performa IN-STORE — Score 3.40 — MEDIUM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10. Final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R1 – Optimasi produk dengan kontribusi penjualan tinggi, terutama SALAD.</a:t>
            </a:r>
          </a:p>
          <a:p>
            <a:pPr>
              <a:spcAft>
                <a:spcPts val="1200"/>
              </a:spcAft>
              <a:defRPr sz="1600"/>
            </a:pPr>
            <a:r>
              <a:t>R2 – Menstabilkan volume transaksi pada periode lemah.</a:t>
            </a:r>
          </a:p>
          <a:p>
            <a:pPr>
              <a:spcAft>
                <a:spcPts val="1200"/>
              </a:spcAft>
              <a:defRPr sz="1600"/>
            </a:pPr>
            <a:r>
              <a:t>R3 – Meningkatkan validasi dan kualitas data transaksi.</a:t>
            </a:r>
          </a:p>
          <a:p>
            <a:pPr>
              <a:spcAft>
                <a:spcPts val="1200"/>
              </a:spcAft>
              <a:defRPr sz="1600"/>
            </a:pPr>
            <a:r>
              <a:t>Prioritas utama: R1 dan R2.</a:t>
            </a:r>
          </a:p>
          <a:p>
            <a:pPr>
              <a:spcAft>
                <a:spcPts val="1200"/>
              </a:spcAft>
              <a:defRPr sz="1600"/>
            </a:pPr>
            <a:r>
              <a:t>R3 menjadi supporting action untuk reliability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11. Expected Impact &amp; Success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Sales → membandingkan sales sebelum dan sesudah implementasi.</a:t>
            </a:r>
          </a:p>
          <a:p>
            <a:pPr>
              <a:spcAft>
                <a:spcPts val="1200"/>
              </a:spcAft>
              <a:defRPr sz="1500"/>
            </a:pPr>
            <a:r>
              <a:t>Number of Orders → mengukur perubahan volume transaksi.</a:t>
            </a:r>
          </a:p>
          <a:p>
            <a:pPr>
              <a:spcAft>
                <a:spcPts val="1200"/>
              </a:spcAft>
              <a:defRPr sz="1500"/>
            </a:pPr>
            <a:r>
              <a:t>Quantity Sold → mengukur perubahan volume produk.</a:t>
            </a:r>
          </a:p>
          <a:p>
            <a:pPr>
              <a:spcAft>
                <a:spcPts val="1200"/>
              </a:spcAft>
              <a:defRPr sz="1500"/>
            </a:pPr>
            <a:r>
              <a:t>AOV → melihat perubahan nilai rata-rata transaksi.</a:t>
            </a:r>
          </a:p>
          <a:p>
            <a:pPr>
              <a:spcAft>
                <a:spcPts val="1200"/>
              </a:spcAft>
              <a:defRPr sz="1500"/>
            </a:pPr>
            <a:r>
              <a:t>Contribution → melihat perubahan kontribusi produk/segmen.</a:t>
            </a:r>
          </a:p>
          <a:p>
            <a:pPr>
              <a:spcAft>
                <a:spcPts val="1200"/>
              </a:spcAft>
              <a:defRPr sz="1500"/>
            </a:pPr>
            <a:r>
              <a:t>Keberhasilan ditentukan melalui perbandingan before vs after.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12. 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Masalah utama adalah fluktuasi performa sales, bukan penurunan terus-menerus.</a:t>
            </a:r>
          </a:p>
          <a:p>
            <a:pPr>
              <a:spcAft>
                <a:spcPts val="1200"/>
              </a:spcAft>
              <a:defRPr sz="1500"/>
            </a:pPr>
            <a:r>
              <a:t>Februari 2023 menjadi periode sales terendah.</a:t>
            </a:r>
          </a:p>
          <a:p>
            <a:pPr>
              <a:spcAft>
                <a:spcPts val="1200"/>
              </a:spcAft>
              <a:defRPr sz="1500"/>
            </a:pPr>
            <a:r>
              <a:t>Penurunan Februari lebih berkaitan dengan volume transaksi karena orders dan quantity turun sementara AOV meningkat.</a:t>
            </a:r>
          </a:p>
          <a:p>
            <a:pPr>
              <a:spcAft>
                <a:spcPts val="1200"/>
              </a:spcAft>
              <a:defRPr sz="1500"/>
            </a:pPr>
            <a:r>
              <a:t>Strategi utama: optimasi produk dengan kontribusi tinggi.</a:t>
            </a:r>
          </a:p>
          <a:p>
            <a:pPr>
              <a:spcAft>
                <a:spcPts val="1200"/>
              </a:spcAft>
              <a:defRPr sz="1500"/>
            </a:pPr>
            <a:r>
              <a:t>Strategi kedua: stabilisasi volume transaksi pada periode lemah.</a:t>
            </a:r>
          </a:p>
          <a:p>
            <a:pPr>
              <a:spcAft>
                <a:spcPts val="1200"/>
              </a:spcAft>
              <a:defRPr sz="1500"/>
            </a:pPr>
            <a:r>
              <a:t>Data quality improvement diperlukan sebagai supporting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