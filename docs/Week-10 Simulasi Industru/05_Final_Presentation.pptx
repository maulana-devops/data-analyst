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DATA STORYTELLING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D9EAF7"/>
                </a:solidFill>
                <a:latin typeface="Arial"/>
              </a:rPr>
              <a:t>Analisis Performa Penjualan 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rial"/>
              </a:rPr>
              <a:t>Reporting &amp; Data Storytelling – Junior Data Analyst Industry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Maulana Aldi Pradana
XII TJKT C | Absen 19
Periode Januari - Desember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D9EAF7"/>
                </a:solidFill>
                <a:latin typeface="Arial"/>
              </a:rPr>
              <a:t>Data → Analysis → Insight → Recommendation → 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  <a:latin typeface="Arial"/>
              </a:rPr>
              <a:t>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560320" cy="1234440"/>
          </a:xfrm>
          <a:prstGeom prst="roundRect">
            <a:avLst/>
          </a:prstGeom>
          <a:solidFill>
            <a:srgbClr val="F5F8FB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46464"/>
                </a:solidFill>
                <a:latin typeface="Arial"/>
              </a:rPr>
              <a:t>TOTAL SALES</a:t>
            </a:r>
          </a:p>
          <a:p>
            <a:pPr algn="ctr"/>
            <a:r>
              <a:rPr sz="2200" b="1">
                <a:solidFill>
                  <a:srgbClr val="17365D"/>
                </a:solidFill>
                <a:latin typeface="Arial"/>
              </a:rPr>
              <a:t>88.779,50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417320"/>
            <a:ext cx="2560320" cy="1234440"/>
          </a:xfrm>
          <a:prstGeom prst="roundRect">
            <a:avLst/>
          </a:prstGeom>
          <a:solidFill>
            <a:srgbClr val="F5F8FB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46464"/>
                </a:solidFill>
                <a:latin typeface="Arial"/>
              </a:rPr>
              <a:t>TOTAL ORDERS</a:t>
            </a:r>
          </a:p>
          <a:p>
            <a:pPr algn="ctr"/>
            <a:r>
              <a:rPr sz="2200" b="1">
                <a:solidFill>
                  <a:srgbClr val="17365D"/>
                </a:solidFill>
                <a:latin typeface="Arial"/>
              </a:rPr>
              <a:t>10.000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2560320" cy="1234440"/>
          </a:xfrm>
          <a:prstGeom prst="roundRect">
            <a:avLst/>
          </a:prstGeom>
          <a:solidFill>
            <a:srgbClr val="F5F8FB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46464"/>
                </a:solidFill>
                <a:latin typeface="Arial"/>
              </a:rPr>
              <a:t>TOTAL QUANTITY</a:t>
            </a:r>
          </a:p>
          <a:p>
            <a:pPr algn="ctr"/>
            <a:r>
              <a:rPr sz="2200" b="1">
                <a:solidFill>
                  <a:srgbClr val="17365D"/>
                </a:solidFill>
                <a:latin typeface="Arial"/>
              </a:rPr>
              <a:t>30.271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417320"/>
            <a:ext cx="2560320" cy="1234440"/>
          </a:xfrm>
          <a:prstGeom prst="roundRect">
            <a:avLst/>
          </a:prstGeom>
          <a:solidFill>
            <a:srgbClr val="F5F8FB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46464"/>
                </a:solidFill>
                <a:latin typeface="Arial"/>
              </a:rPr>
              <a:t>AOV</a:t>
            </a:r>
          </a:p>
          <a:p>
            <a:pPr algn="ctr"/>
            <a:r>
              <a:rPr sz="2200" b="1">
                <a:solidFill>
                  <a:srgbClr val="17365D"/>
                </a:solidFill>
                <a:latin typeface="Arial"/>
              </a:rPr>
              <a:t>8,88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063240"/>
            <a:ext cx="2011680" cy="38404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MAIN 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7365D"/>
                </a:solidFill>
                <a:latin typeface="Arial"/>
              </a:rPr>
              <a:t>Performa penjualan 2023 mengalami fluktuasi, bukan penurunan secara terus-menerus. Februari menjadi periode dengan sales terendah.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Sales Februari turun -8,82% dibandingkan Januari.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Orders turun -11,12% dan Quantity turun -8,73%.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AOV justru meningkat dari 8,83 menjadi 9,06.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SALAD menjadi produk dengan kontribusi terbesar pada Februari: 17,80%.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6464"/>
                </a:solidFill>
                <a:latin typeface="Arial"/>
              </a:rPr>
              <a:t>Maulana Aldi Pradana | XII TJKT C | Data Storytelling | 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  <a:latin typeface="Arial"/>
              </a:rPr>
              <a:t>Business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371600" cy="38404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698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7365D"/>
                </a:solidFill>
                <a:latin typeface="Arial"/>
              </a:rPr>
              <a:t>Bagaimana memahami fluktuasi performa penjualan dan menentukan area yang perlu mendapat perhatian berdasarkan data transaksi 2023?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9966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Arial"/>
              </a:rPr>
              <a:t>Temuan awal menunjukkan bahwa Februari merupakan periode dengan sales terendah, sehingga periode tersebut digunakan sebagai fokus perbandingan dengan Januari.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C8C32"/>
                </a:solidFill>
                <a:latin typeface="Arial"/>
              </a:rPr>
              <a:t>Catatan: data tidak mendukung kesimpulan bahwa penjualan mengalami penurunan terus-menerus selama tiga bulan terakhir.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6464"/>
                </a:solidFill>
                <a:latin typeface="Arial"/>
              </a:rPr>
              <a:t>Maulana Aldi Pradana | XII TJKT C | Data Storytelling | 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  <a:latin typeface="Arial"/>
              </a:rPr>
              <a:t>Business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1. Bagaimana tren penjualan berdasarkan waktu?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2. Produk apa yang memberikan kontribusi terbesar?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3. Bagaimana performa penjualan berdasarkan lokasi?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4. Bagaimana performa penjualan berdasarkan metode pembayaran?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5. Apakah perubahan sales berkaitan dengan orders dan quantity?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2356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Arial"/>
              </a:rPr>
              <a:t>Fokus utama presentasi: menjelaskan apa yang terjadi, indikator yang berkaitan, dampaknya terhadap bisnis, dan tindakan yang dapat diuji.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6464"/>
                </a:solidFill>
                <a:latin typeface="Arial"/>
              </a:rPr>
              <a:t>Maulana Aldi Pradana | XII TJKT C | Data Storytelling | 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  <a:latin typeface="Arial"/>
              </a:rPr>
              <a:t>Dataset &amp;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371600" cy="38404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468880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46464"/>
                </a:solidFill>
                <a:latin typeface="Arial"/>
              </a:rPr>
              <a:t>TRANSACTIONS</a:t>
            </a:r>
          </a:p>
          <a:p>
            <a:pPr algn="ctr"/>
            <a:r>
              <a:rPr sz="2200" b="1">
                <a:solidFill>
                  <a:srgbClr val="17365D"/>
                </a:solidFill>
                <a:latin typeface="Arial"/>
              </a:rPr>
              <a:t>10.000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83080"/>
            <a:ext cx="2468880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46464"/>
                </a:solidFill>
                <a:latin typeface="Arial"/>
              </a:rPr>
              <a:t>COLUMNS</a:t>
            </a:r>
          </a:p>
          <a:p>
            <a:pPr algn="ctr"/>
            <a:r>
              <a:rPr sz="2200" b="1">
                <a:solidFill>
                  <a:srgbClr val="17365D"/>
                </a:solidFill>
                <a:latin typeface="Arial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83080"/>
            <a:ext cx="2468880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46464"/>
                </a:solidFill>
                <a:latin typeface="Arial"/>
              </a:rPr>
              <a:t>PERIOD</a:t>
            </a:r>
          </a:p>
          <a:p>
            <a:pPr algn="ctr"/>
            <a:r>
              <a:rPr sz="2200" b="1">
                <a:solidFill>
                  <a:srgbClr val="17365D"/>
                </a:solidFill>
                <a:latin typeface="Arial"/>
              </a:rPr>
              <a:t>2023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783080"/>
            <a:ext cx="2468880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46464"/>
                </a:solidFill>
                <a:latin typeface="Arial"/>
              </a:rPr>
              <a:t>DUPLICATES</a:t>
            </a:r>
          </a:p>
          <a:p>
            <a:pPr algn="ctr"/>
            <a:r>
              <a:rPr sz="2200" b="1">
                <a:solidFill>
                  <a:srgbClr val="17365D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365D"/>
                </a:solidFill>
                <a:latin typeface="Arial"/>
              </a:rPr>
              <a:t>Metodologi Analisis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Data cleaning dan pemeriksaan kualitas data.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Analisis statistik deskriptif dan agregasi.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Analisis tren penjualan bulanan.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Perbandingan Januari dan Februari.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Analisis kontribusi produk, lokasi, dan pembayaran.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Penyusunan insight dan rekomendasi berbasis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6464"/>
                </a:solidFill>
                <a:latin typeface="Arial"/>
              </a:rPr>
              <a:t>Maulana Aldi Pradana | XII TJKT C | Data Storytelling | 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  <a:latin typeface="Arial"/>
              </a:rPr>
              <a:t>Key Finding 1 – Tren Penjualan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280160" cy="38404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TREND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212080"/>
            <a:ext cx="9326880" cy="13716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36" y="2835065"/>
            <a:ext cx="109728" cy="109728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Arial"/>
              </a:rPr>
              <a:t>Jan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69889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0">
                <a:solidFill>
                  <a:srgbClr val="646464"/>
                </a:solidFill>
                <a:latin typeface="Arial"/>
              </a:rPr>
              <a:t>7,221</a:t>
            </a:r>
          </a:p>
        </p:txBody>
      </p:sp>
      <p:sp>
        <p:nvSpPr>
          <p:cNvPr id="10" name="Oval 9"/>
          <p:cNvSpPr/>
          <p:nvPr/>
        </p:nvSpPr>
        <p:spPr>
          <a:xfrm>
            <a:off x="1707434" y="5157216"/>
            <a:ext cx="109728" cy="109728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79418" y="534924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Arial"/>
              </a:rPr>
              <a:t>Feb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2258" y="489204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0">
                <a:solidFill>
                  <a:srgbClr val="646464"/>
                </a:solidFill>
                <a:latin typeface="Arial"/>
              </a:rPr>
              <a:t>6,584</a:t>
            </a:r>
          </a:p>
        </p:txBody>
      </p:sp>
      <p:sp>
        <p:nvSpPr>
          <p:cNvPr id="13" name="Oval 12"/>
          <p:cNvSpPr/>
          <p:nvPr/>
        </p:nvSpPr>
        <p:spPr>
          <a:xfrm>
            <a:off x="2555332" y="2918910"/>
            <a:ext cx="109728" cy="109728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7316" y="534924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Arial"/>
              </a:rPr>
              <a:t>Mar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90156" y="2653734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0">
                <a:solidFill>
                  <a:srgbClr val="646464"/>
                </a:solidFill>
                <a:latin typeface="Arial"/>
              </a:rPr>
              <a:t>7,198</a:t>
            </a:r>
          </a:p>
        </p:txBody>
      </p:sp>
      <p:sp>
        <p:nvSpPr>
          <p:cNvPr id="16" name="Oval 15"/>
          <p:cNvSpPr/>
          <p:nvPr/>
        </p:nvSpPr>
        <p:spPr>
          <a:xfrm>
            <a:off x="3403230" y="3135814"/>
            <a:ext cx="109728" cy="109728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75214" y="534924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Arial"/>
              </a:rPr>
              <a:t>Apr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8054" y="2870638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0">
                <a:solidFill>
                  <a:srgbClr val="646464"/>
                </a:solidFill>
                <a:latin typeface="Arial"/>
              </a:rPr>
              <a:t>7,138</a:t>
            </a:r>
          </a:p>
        </p:txBody>
      </p:sp>
      <p:sp>
        <p:nvSpPr>
          <p:cNvPr id="19" name="Oval 18"/>
          <p:cNvSpPr/>
          <p:nvPr/>
        </p:nvSpPr>
        <p:spPr>
          <a:xfrm>
            <a:off x="4251128" y="3750072"/>
            <a:ext cx="109728" cy="109728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23112" y="534924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Arial"/>
              </a:rPr>
              <a:t>May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5952" y="3484896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0">
                <a:solidFill>
                  <a:srgbClr val="646464"/>
                </a:solidFill>
                <a:latin typeface="Arial"/>
              </a:rPr>
              <a:t>6,970</a:t>
            </a:r>
          </a:p>
        </p:txBody>
      </p:sp>
      <p:sp>
        <p:nvSpPr>
          <p:cNvPr id="22" name="Oval 21"/>
          <p:cNvSpPr/>
          <p:nvPr/>
        </p:nvSpPr>
        <p:spPr>
          <a:xfrm>
            <a:off x="5099026" y="2446825"/>
            <a:ext cx="109728" cy="109728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71010" y="534924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Arial"/>
              </a:rPr>
              <a:t>Jun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33850" y="2181649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0">
                <a:solidFill>
                  <a:srgbClr val="646464"/>
                </a:solidFill>
                <a:latin typeface="Arial"/>
              </a:rPr>
              <a:t>7,328</a:t>
            </a:r>
          </a:p>
        </p:txBody>
      </p:sp>
      <p:sp>
        <p:nvSpPr>
          <p:cNvPr id="25" name="Oval 24"/>
          <p:cNvSpPr/>
          <p:nvPr/>
        </p:nvSpPr>
        <p:spPr>
          <a:xfrm>
            <a:off x="5946925" y="3968799"/>
            <a:ext cx="109728" cy="109728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18909" y="534924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Arial"/>
              </a:rPr>
              <a:t>Jul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81749" y="3703623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0">
                <a:solidFill>
                  <a:srgbClr val="646464"/>
                </a:solidFill>
                <a:latin typeface="Arial"/>
              </a:rPr>
              <a:t>6,910</a:t>
            </a:r>
          </a:p>
        </p:txBody>
      </p:sp>
      <p:sp>
        <p:nvSpPr>
          <p:cNvPr id="28" name="Oval 27"/>
          <p:cNvSpPr/>
          <p:nvPr/>
        </p:nvSpPr>
        <p:spPr>
          <a:xfrm>
            <a:off x="6794823" y="3232419"/>
            <a:ext cx="109728" cy="109728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66807" y="534924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Arial"/>
              </a:rPr>
              <a:t>Aug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9647" y="2967243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0">
                <a:solidFill>
                  <a:srgbClr val="646464"/>
                </a:solidFill>
                <a:latin typeface="Arial"/>
              </a:rPr>
              <a:t>7,112</a:t>
            </a:r>
          </a:p>
        </p:txBody>
      </p:sp>
      <p:sp>
        <p:nvSpPr>
          <p:cNvPr id="31" name="Oval 30"/>
          <p:cNvSpPr/>
          <p:nvPr/>
        </p:nvSpPr>
        <p:spPr>
          <a:xfrm>
            <a:off x="7642721" y="4262258"/>
            <a:ext cx="109728" cy="109728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14705" y="534924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Arial"/>
              </a:rPr>
              <a:t>Sep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7545" y="399708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0">
                <a:solidFill>
                  <a:srgbClr val="646464"/>
                </a:solidFill>
                <a:latin typeface="Arial"/>
              </a:rPr>
              <a:t>6,830</a:t>
            </a:r>
          </a:p>
        </p:txBody>
      </p:sp>
      <p:sp>
        <p:nvSpPr>
          <p:cNvPr id="34" name="Oval 33"/>
          <p:cNvSpPr/>
          <p:nvPr/>
        </p:nvSpPr>
        <p:spPr>
          <a:xfrm>
            <a:off x="8490619" y="2414016"/>
            <a:ext cx="109728" cy="109728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2603" y="534924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Arial"/>
              </a:rPr>
              <a:t>Oct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5443" y="2148840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0">
                <a:solidFill>
                  <a:srgbClr val="646464"/>
                </a:solidFill>
                <a:latin typeface="Arial"/>
              </a:rPr>
              <a:t>7,336</a:t>
            </a:r>
          </a:p>
        </p:txBody>
      </p:sp>
      <p:sp>
        <p:nvSpPr>
          <p:cNvPr id="37" name="Oval 36"/>
          <p:cNvSpPr/>
          <p:nvPr/>
        </p:nvSpPr>
        <p:spPr>
          <a:xfrm>
            <a:off x="9338517" y="4061758"/>
            <a:ext cx="109728" cy="109728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10501" y="534924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Arial"/>
              </a:rPr>
              <a:t>Nov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3341" y="379658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0">
                <a:solidFill>
                  <a:srgbClr val="646464"/>
                </a:solidFill>
                <a:latin typeface="Arial"/>
              </a:rPr>
              <a:t>6,884</a:t>
            </a:r>
          </a:p>
        </p:txBody>
      </p:sp>
      <p:sp>
        <p:nvSpPr>
          <p:cNvPr id="40" name="Oval 39"/>
          <p:cNvSpPr/>
          <p:nvPr/>
        </p:nvSpPr>
        <p:spPr>
          <a:xfrm>
            <a:off x="10186415" y="3287100"/>
            <a:ext cx="109728" cy="109728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0" y="534924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646464"/>
                </a:solidFill>
                <a:latin typeface="Arial"/>
              </a:rPr>
              <a:t>Dec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3021924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0">
                <a:solidFill>
                  <a:srgbClr val="646464"/>
                </a:solidFill>
                <a:latin typeface="Arial"/>
              </a:rPr>
              <a:t>7,097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14400" y="2889929"/>
            <a:ext cx="847898" cy="2322151"/>
          </a:xfrm>
          <a:prstGeom prst="line">
            <a:avLst/>
          </a:prstGeom>
          <a:ln w="2540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762298" y="2973774"/>
            <a:ext cx="847898" cy="2238306"/>
          </a:xfrm>
          <a:prstGeom prst="line">
            <a:avLst/>
          </a:prstGeom>
          <a:ln w="2540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610196" y="2973774"/>
            <a:ext cx="847898" cy="216904"/>
          </a:xfrm>
          <a:prstGeom prst="line">
            <a:avLst/>
          </a:prstGeom>
          <a:ln w="2540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458094" y="3190678"/>
            <a:ext cx="847898" cy="614258"/>
          </a:xfrm>
          <a:prstGeom prst="line">
            <a:avLst/>
          </a:prstGeom>
          <a:ln w="2540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305992" y="2501689"/>
            <a:ext cx="847898" cy="1303247"/>
          </a:xfrm>
          <a:prstGeom prst="line">
            <a:avLst/>
          </a:prstGeom>
          <a:ln w="2540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153890" y="2501689"/>
            <a:ext cx="847899" cy="1521974"/>
          </a:xfrm>
          <a:prstGeom prst="line">
            <a:avLst/>
          </a:prstGeom>
          <a:ln w="2540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001789" y="3287283"/>
            <a:ext cx="847898" cy="736380"/>
          </a:xfrm>
          <a:prstGeom prst="line">
            <a:avLst/>
          </a:prstGeom>
          <a:ln w="2540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849687" y="3287283"/>
            <a:ext cx="847898" cy="1029839"/>
          </a:xfrm>
          <a:prstGeom prst="line">
            <a:avLst/>
          </a:prstGeom>
          <a:ln w="2540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697585" y="2468880"/>
            <a:ext cx="847898" cy="1848242"/>
          </a:xfrm>
          <a:prstGeom prst="line">
            <a:avLst/>
          </a:prstGeom>
          <a:ln w="2540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545483" y="2468880"/>
            <a:ext cx="847898" cy="1647742"/>
          </a:xfrm>
          <a:prstGeom prst="line">
            <a:avLst/>
          </a:prstGeom>
          <a:ln w="2540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9393381" y="3341964"/>
            <a:ext cx="847899" cy="774658"/>
          </a:xfrm>
          <a:prstGeom prst="line">
            <a:avLst/>
          </a:prstGeom>
          <a:ln w="2540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643426" y="5093208"/>
            <a:ext cx="237744" cy="237744"/>
          </a:xfrm>
          <a:prstGeom prst="ellipse">
            <a:avLst/>
          </a:prstGeom>
          <a:noFill/>
          <a:ln w="38100">
            <a:solidFill>
              <a:srgbClr val="DC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0" y="160020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7365D"/>
                </a:solidFill>
                <a:latin typeface="Arial"/>
              </a:rPr>
              <a:t>Februari = sales terendah
6.584,00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0" y="160020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rial"/>
              </a:rPr>
              <a:t>Penjualan berfluktuasi dari bulan ke bulan dan tidak menunjukkan pola penurunan secara terus-menerus.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6464"/>
                </a:solidFill>
                <a:latin typeface="Arial"/>
              </a:rPr>
              <a:t>Maulana Aldi Pradana | XII TJKT C | Data Storytelling | 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  <a:latin typeface="Arial"/>
              </a:rPr>
              <a:t>Key Finding 2 – Sales vs Volume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468880" cy="1188720"/>
          </a:xfrm>
          <a:prstGeom prst="roundRect">
            <a:avLst/>
          </a:prstGeom>
          <a:solidFill>
            <a:srgbClr val="F5F8FB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46464"/>
                </a:solidFill>
                <a:latin typeface="Arial"/>
              </a:rPr>
              <a:t>SALES CHANGE</a:t>
            </a:r>
          </a:p>
          <a:p>
            <a:pPr algn="ctr"/>
            <a:r>
              <a:rPr sz="2200" b="1">
                <a:solidFill>
                  <a:srgbClr val="DC8C32"/>
                </a:solidFill>
                <a:latin typeface="Arial"/>
              </a:rPr>
              <a:t>-8,82%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71600"/>
            <a:ext cx="2468880" cy="1188720"/>
          </a:xfrm>
          <a:prstGeom prst="roundRect">
            <a:avLst/>
          </a:prstGeom>
          <a:solidFill>
            <a:srgbClr val="F5F8FB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46464"/>
                </a:solidFill>
                <a:latin typeface="Arial"/>
              </a:rPr>
              <a:t>ORDERS CHANGE</a:t>
            </a:r>
          </a:p>
          <a:p>
            <a:pPr algn="ctr"/>
            <a:r>
              <a:rPr sz="2200" b="1">
                <a:solidFill>
                  <a:srgbClr val="DC8C32"/>
                </a:solidFill>
                <a:latin typeface="Arial"/>
              </a:rPr>
              <a:t>-11,12%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2468880" cy="1188720"/>
          </a:xfrm>
          <a:prstGeom prst="roundRect">
            <a:avLst/>
          </a:prstGeom>
          <a:solidFill>
            <a:srgbClr val="F5F8FB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46464"/>
                </a:solidFill>
                <a:latin typeface="Arial"/>
              </a:rPr>
              <a:t>QUANTITY CHANGE</a:t>
            </a:r>
          </a:p>
          <a:p>
            <a:pPr algn="ctr"/>
            <a:r>
              <a:rPr sz="2200" b="1">
                <a:solidFill>
                  <a:srgbClr val="DC8C32"/>
                </a:solidFill>
                <a:latin typeface="Arial"/>
              </a:rPr>
              <a:t>-8,73%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371600"/>
            <a:ext cx="2468880" cy="1188720"/>
          </a:xfrm>
          <a:prstGeom prst="roundRect">
            <a:avLst/>
          </a:prstGeom>
          <a:solidFill>
            <a:srgbClr val="F5F8FB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46464"/>
                </a:solidFill>
                <a:latin typeface="Arial"/>
              </a:rPr>
              <a:t>AOV CHANGE</a:t>
            </a:r>
          </a:p>
          <a:p>
            <a:pPr algn="ctr"/>
            <a:r>
              <a:rPr sz="2200" b="1">
                <a:solidFill>
                  <a:srgbClr val="46825A"/>
                </a:solidFill>
                <a:latin typeface="Arial"/>
              </a:rPr>
              <a:t>+2,59%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7365D"/>
                </a:solidFill>
                <a:latin typeface="Arial"/>
              </a:rPr>
              <a:t>Apa yang terjadi?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Sales turun dari 7.221,00 menjadi 6.584,00.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Orders turun 11,12%.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Quantity turun 8,73%.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AOV justru naik dari 8,83 menjadi 9,06.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0632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365D"/>
                </a:solidFill>
                <a:latin typeface="Arial"/>
              </a:rPr>
              <a:t>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60"/>
            <a:ext cx="45720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7365D"/>
                </a:solidFill>
                <a:latin typeface="Arial"/>
              </a:rPr>
              <a:t>Penurunan sales Februari lebih relevan dikaitkan dengan perubahan volume transaksi daripada penurunan nilai rata-rata order.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6464"/>
                </a:solidFill>
                <a:latin typeface="Arial"/>
              </a:rPr>
              <a:t>Maulana Aldi Pradana | XII TJKT C | Data Storytelling | 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  <a:latin typeface="Arial"/>
              </a:rPr>
              <a:t>Key Finding 3 – Kontribusi Produk, Lokasi &amp; Pembayaran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7365D"/>
                </a:solidFill>
                <a:latin typeface="Arial"/>
              </a:rPr>
              <a:t>Produk – Februari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6479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2323"/>
                </a:solidFill>
                <a:latin typeface="Arial"/>
              </a:rPr>
              <a:t>SALAD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1783080"/>
            <a:ext cx="3474720" cy="292608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48840" y="1783080"/>
            <a:ext cx="3092500" cy="29260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175564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365D"/>
                </a:solidFill>
                <a:latin typeface="Arial"/>
              </a:rPr>
              <a:t>17.80%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5915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2323"/>
                </a:solidFill>
                <a:latin typeface="Arial"/>
              </a:rPr>
              <a:t>JUICE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2377440"/>
            <a:ext cx="3474720" cy="292608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48840" y="2377440"/>
            <a:ext cx="2790200" cy="29260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235000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365D"/>
                </a:solidFill>
                <a:latin typeface="Arial"/>
              </a:rPr>
              <a:t>16.06%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5351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2323"/>
                </a:solidFill>
                <a:latin typeface="Arial"/>
              </a:rPr>
              <a:t>SANDWICH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48840" y="2971800"/>
            <a:ext cx="3474720" cy="292608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48840" y="2971800"/>
            <a:ext cx="2628625" cy="29260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0" y="294436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365D"/>
                </a:solidFill>
                <a:latin typeface="Arial"/>
              </a:rPr>
              <a:t>15.13%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4787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2323"/>
                </a:solidFill>
                <a:latin typeface="Arial"/>
              </a:rPr>
              <a:t>SMOOTHIE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3566160"/>
            <a:ext cx="3474720" cy="292608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48840" y="3566160"/>
            <a:ext cx="2574767" cy="29260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35387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365D"/>
                </a:solidFill>
                <a:latin typeface="Arial"/>
              </a:rPr>
              <a:t>14.82%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4223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2323"/>
                </a:solidFill>
                <a:latin typeface="Arial"/>
              </a:rPr>
              <a:t>CAKE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4160520"/>
            <a:ext cx="3474720" cy="292608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48840" y="4160520"/>
            <a:ext cx="1812066" cy="29260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4133087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365D"/>
                </a:solidFill>
                <a:latin typeface="Arial"/>
              </a:rPr>
              <a:t>10.43%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12801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7365D"/>
                </a:solidFill>
                <a:latin typeface="Arial"/>
              </a:rPr>
              <a:t>Lokasi – Februari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176479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2323"/>
                </a:solidFill>
                <a:latin typeface="Arial"/>
              </a:rPr>
              <a:t>TAKEAWAY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1783080"/>
            <a:ext cx="3108960" cy="292608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43800" y="1783080"/>
            <a:ext cx="2785184" cy="29260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44200" y="175564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365D"/>
                </a:solidFill>
                <a:latin typeface="Arial"/>
              </a:rPr>
              <a:t>62.71%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240487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2323"/>
                </a:solidFill>
                <a:latin typeface="Arial"/>
              </a:rPr>
              <a:t>IN-STORE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43800" y="2423160"/>
            <a:ext cx="3108960" cy="292608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43800" y="2423160"/>
            <a:ext cx="1392369" cy="29260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44200" y="23957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365D"/>
                </a:solidFill>
                <a:latin typeface="Arial"/>
              </a:rPr>
              <a:t>31.35%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3044951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2323"/>
                </a:solidFill>
                <a:latin typeface="Arial"/>
              </a:rPr>
              <a:t>ERROR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3800" y="3063239"/>
            <a:ext cx="3108960" cy="292608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543800" y="3063239"/>
            <a:ext cx="168772" cy="29260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44200" y="303580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365D"/>
                </a:solidFill>
                <a:latin typeface="Arial"/>
              </a:rPr>
              <a:t>3.80%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368503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2323"/>
                </a:solidFill>
                <a:latin typeface="Arial"/>
              </a:rPr>
              <a:t>UNKNOWN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43800" y="3703320"/>
            <a:ext cx="3108960" cy="292608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543800" y="3703320"/>
            <a:ext cx="95045" cy="29260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44200" y="3675887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365D"/>
                </a:solidFill>
                <a:latin typeface="Arial"/>
              </a:rPr>
              <a:t>2.14%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6177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7365D"/>
                </a:solidFill>
                <a:latin typeface="Arial"/>
              </a:rPr>
              <a:t>Pembayaran – Februari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505663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2323"/>
                </a:solidFill>
                <a:latin typeface="Arial"/>
              </a:rPr>
              <a:t>DIGITAL WALLET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43800" y="5074920"/>
            <a:ext cx="3108960" cy="292608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543800" y="5074920"/>
            <a:ext cx="2778279" cy="29260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744200" y="504748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365D"/>
                </a:solidFill>
                <a:latin typeface="Arial"/>
              </a:rPr>
              <a:t>49.15%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5495544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2323"/>
                </a:solidFill>
                <a:latin typeface="Arial"/>
              </a:rPr>
              <a:t>CREDIT CARD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43800" y="5513831"/>
            <a:ext cx="3108960" cy="292608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543800" y="5513831"/>
            <a:ext cx="1348158" cy="29260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744200" y="5486399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365D"/>
                </a:solidFill>
                <a:latin typeface="Arial"/>
              </a:rPr>
              <a:t>23.85%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593445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2323"/>
                </a:solidFill>
                <a:latin typeface="Arial"/>
              </a:rPr>
              <a:t>CASH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43800" y="5952744"/>
            <a:ext cx="3108960" cy="292608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43800" y="5952744"/>
            <a:ext cx="1237931" cy="29260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744200" y="592531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7365D"/>
                </a:solidFill>
                <a:latin typeface="Arial"/>
              </a:rPr>
              <a:t>21.90%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502920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rial"/>
              </a:rPr>
              <a:t>SALAD menjadi produk dengan kontribusi terbesar. TAKEAWAY dan DIGITAL WALLET juga memiliki kontribusi dominan pada Februari.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6464"/>
                </a:solidFill>
                <a:latin typeface="Arial"/>
              </a:rPr>
              <a:t>Maulana Aldi Pradana | XII TJKT C | Data Storytelling | 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  <a:latin typeface="Arial"/>
              </a:rPr>
              <a:t>Root Cause / Faktor yang Berkaitan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Arial"/>
              </a:rPr>
              <a:t>Data menunjukkan beberapa faktor yang perlu diperhatikan, tetapi tidak semuanya dapat disebut sebagai penyebab langsung.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3017520" cy="1508760"/>
          </a:xfrm>
          <a:prstGeom prst="roundRect">
            <a:avLst/>
          </a:prstGeom>
          <a:solidFill>
            <a:srgbClr val="F5F8FB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B9BD5"/>
                </a:solidFill>
                <a:latin typeface="Arial"/>
              </a:rPr>
              <a:t>RC1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96312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Arial"/>
              </a:rPr>
              <a:t>Perubahan volume transaksi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2697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Orders dan Quantity turun bersamaan dengan Sales pada Februari.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2057400"/>
            <a:ext cx="3017520" cy="1508760"/>
          </a:xfrm>
          <a:prstGeom prst="roundRect">
            <a:avLst/>
          </a:prstGeom>
          <a:solidFill>
            <a:srgbClr val="F5F8FB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1945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B9BD5"/>
                </a:solidFill>
                <a:latin typeface="Arial"/>
              </a:rPr>
              <a:t>RC2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496312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Arial"/>
              </a:rPr>
              <a:t>Kontribusi produk tidak merata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926080"/>
            <a:ext cx="2697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SALAD memiliki kontribusi terbesar sehingga perlu dimonitor.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057400"/>
            <a:ext cx="3017520" cy="1508760"/>
          </a:xfrm>
          <a:prstGeom prst="roundRect">
            <a:avLst/>
          </a:prstGeom>
          <a:solidFill>
            <a:srgbClr val="F5F8FB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1945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B9BD5"/>
                </a:solidFill>
                <a:latin typeface="Arial"/>
              </a:rPr>
              <a:t>RC3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496312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Arial"/>
              </a:rPr>
              <a:t>Konsentrasi lokasi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926080"/>
            <a:ext cx="2697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TAKEAWAY menyumbang 62,71% sales Februari.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60520"/>
            <a:ext cx="3017520" cy="1508760"/>
          </a:xfrm>
          <a:prstGeom prst="roundRect">
            <a:avLst/>
          </a:prstGeom>
          <a:solidFill>
            <a:srgbClr val="F5F8FB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2976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B9BD5"/>
                </a:solidFill>
                <a:latin typeface="Arial"/>
              </a:rPr>
              <a:t>RC4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99431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Arial"/>
              </a:rPr>
              <a:t>Konsentrasi pembayaran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29200"/>
            <a:ext cx="2697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Digital Wallet menyumbang 49,15% sales Februari.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4160520"/>
            <a:ext cx="3017520" cy="1508760"/>
          </a:xfrm>
          <a:prstGeom prst="roundRect">
            <a:avLst/>
          </a:prstGeom>
          <a:solidFill>
            <a:srgbClr val="F5F8FB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42976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B9BD5"/>
                </a:solidFill>
                <a:latin typeface="Arial"/>
              </a:rPr>
              <a:t>RC5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599431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Arial"/>
              </a:rPr>
              <a:t>Kualitas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029200"/>
            <a:ext cx="2697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1.194 transaksi memiliki sales mismatch.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6464"/>
                </a:solidFill>
                <a:latin typeface="Arial"/>
              </a:rPr>
              <a:t>Maulana Aldi Pradana | XII TJKT C | Data Storytelling | 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  <a:latin typeface="Arial"/>
              </a:rPr>
              <a:t>Business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280160" cy="38404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7365D"/>
                </a:solidFill>
                <a:latin typeface="Arial"/>
              </a:rPr>
              <a:t>Apa arti temuan ini bagi bisnis?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514600"/>
            <a:ext cx="457200" cy="4572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9631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365D"/>
                </a:solidFill>
                <a:latin typeface="Arial"/>
              </a:rPr>
              <a:t>Volume transaksi perlu dijaga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834640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Arial"/>
              </a:rPr>
              <a:t>Penurunan orders dan quantity berkontribusi pada penurunan sales Februari.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429000"/>
            <a:ext cx="457200" cy="4572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41071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365D"/>
                </a:solidFill>
                <a:latin typeface="Arial"/>
              </a:rPr>
              <a:t>Produk utama perlu dipantau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749039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Arial"/>
              </a:rPr>
              <a:t>Produk dengan kontribusi tinggi dapat menjadi fokus monitoring performa.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32511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365D"/>
                </a:solidFill>
                <a:latin typeface="Arial"/>
              </a:rPr>
              <a:t>Konsentrasi transaksi perlu dimonitor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663440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Arial"/>
              </a:rPr>
              <a:t>Dominasi lokasi dan pembayaran menunjukkan pola yang perlu dipantau dari waktu ke waktu.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257800"/>
            <a:ext cx="457200" cy="4572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23951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365D"/>
                </a:solidFill>
                <a:latin typeface="Arial"/>
              </a:rPr>
              <a:t>Kualitas data memengaruhi reliability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577840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Arial"/>
              </a:rPr>
              <a:t>Data yang tidak konsisten dapat mengurangi keandalan monitoring dan analisis.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6464"/>
                </a:solidFill>
                <a:latin typeface="Arial"/>
              </a:rPr>
              <a:t>Maulana Aldi Pradana | XII TJKT C | Data Storytelling | 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  <a:latin typeface="Arial"/>
              </a:rPr>
              <a:t>Recommendation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B9BD5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0020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7365D"/>
                </a:solidFill>
                <a:latin typeface="Arial"/>
              </a:rPr>
              <a:t>Optimalkan Produk Kontribusi Tinggi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3911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Arial"/>
              </a:rPr>
              <a:t>Fokuskan monitoring dan evaluasi pada produk dengan kontribusi tinggi, terutama SALAD.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1069848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B9BD5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15468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7365D"/>
                </a:solidFill>
                <a:latin typeface="Arial"/>
              </a:rPr>
              <a:t>Stabilkan Volume Transaksi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59359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Arial"/>
              </a:rPr>
              <a:t>Pantau Sales, Orders, Quantity Sold, dan AOV secara berkala pada periode yang lemah.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26280"/>
            <a:ext cx="1069848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8006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B9BD5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70916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7365D"/>
                </a:solidFill>
                <a:latin typeface="Arial"/>
              </a:rPr>
              <a:t>Perbaiki Kualitas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14807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Arial"/>
              </a:rPr>
              <a:t>Tingkatkan validasi Total_Spent, Quantity, Price_Per_Unit, tanggal, dan nilai UNKNOWN/ERROR.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89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  <a:latin typeface="Arial"/>
              </a:rPr>
              <a:t>Catatan: cross-selling, bundling, atau ekspansi channel merupakan hipotesis yang perlu diuji dengan data setelah implementasi.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6464"/>
                </a:solidFill>
                <a:latin typeface="Arial"/>
              </a:rPr>
              <a:t>Maulana Aldi Pradana | XII TJKT C | Data Storytelling | 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365D"/>
                </a:solidFill>
                <a:latin typeface="Arial"/>
              </a:rPr>
              <a:t>Expected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Arial"/>
              </a:rPr>
              <a:t>Keberhasilan rekomendasi diukur menggunakan indikator yang sama sebelum dan sesudah implementasi.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2743200" cy="658368"/>
          </a:xfrm>
          <a:prstGeom prst="roundRect">
            <a:avLst/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46464"/>
                </a:solidFill>
                <a:latin typeface="Arial"/>
              </a:rPr>
              <a:t>Sales</a:t>
            </a:r>
          </a:p>
          <a:p>
            <a:pPr algn="ctr"/>
            <a:r>
              <a:rPr sz="2200" b="1">
                <a:solidFill>
                  <a:srgbClr val="17365D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084832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rial"/>
              </a:rPr>
              <a:t>Mengukur perubahan nilai penjualan.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16352"/>
            <a:ext cx="2743200" cy="658368"/>
          </a:xfrm>
          <a:prstGeom prst="roundRect">
            <a:avLst/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46464"/>
                </a:solidFill>
                <a:latin typeface="Arial"/>
              </a:rPr>
              <a:t>Orders</a:t>
            </a:r>
          </a:p>
          <a:p>
            <a:pPr algn="ctr"/>
            <a:r>
              <a:rPr sz="2200" b="1">
                <a:solidFill>
                  <a:srgbClr val="17365D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889504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rial"/>
              </a:rPr>
              <a:t>Mengukur kestabilan volume transaksi.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21024"/>
            <a:ext cx="2743200" cy="658368"/>
          </a:xfrm>
          <a:prstGeom prst="roundRect">
            <a:avLst/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46464"/>
                </a:solidFill>
                <a:latin typeface="Arial"/>
              </a:rPr>
              <a:t>Quantity Sold</a:t>
            </a:r>
          </a:p>
          <a:p>
            <a:pPr algn="ctr"/>
            <a:r>
              <a:rPr sz="2200" b="1">
                <a:solidFill>
                  <a:srgbClr val="17365D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694176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rial"/>
              </a:rPr>
              <a:t>Mengukur perubahan jumlah produk terjual.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425696"/>
            <a:ext cx="2743200" cy="658368"/>
          </a:xfrm>
          <a:prstGeom prst="roundRect">
            <a:avLst/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46464"/>
                </a:solidFill>
                <a:latin typeface="Arial"/>
              </a:rPr>
              <a:t>AOV</a:t>
            </a:r>
          </a:p>
          <a:p>
            <a:pPr algn="ctr"/>
            <a:r>
              <a:rPr sz="2200" b="1">
                <a:solidFill>
                  <a:srgbClr val="17365D"/>
                </a:solidFill>
                <a:latin typeface="Arial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498848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rial"/>
              </a:rPr>
              <a:t>Memastikan perubahan sales tidak hanya berasal dari nilai order.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230368"/>
            <a:ext cx="2743200" cy="658368"/>
          </a:xfrm>
          <a:prstGeom prst="roundRect">
            <a:avLst/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46464"/>
                </a:solidFill>
                <a:latin typeface="Arial"/>
              </a:rPr>
              <a:t>Product Contribution</a:t>
            </a:r>
          </a:p>
          <a:p>
            <a:pPr algn="ctr"/>
            <a:r>
              <a:rPr sz="2200" b="1">
                <a:solidFill>
                  <a:srgbClr val="17365D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530352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rial"/>
              </a:rPr>
              <a:t>Memantau kontribusi produk utama setelah strategi diterapkan.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08076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365D"/>
                </a:solidFill>
                <a:latin typeface="Arial"/>
              </a:rPr>
              <a:t>Expected outcome: keputusan bisnis dapat dievaluasi berdasarkan perubahan indikator yang terukur, bukan hanya persepsi.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6464"/>
                </a:solidFill>
                <a:latin typeface="Arial"/>
              </a:rPr>
              <a:t>Maulana Aldi Pradana | XII TJKT C | Data Storytelling | 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D9EAF7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600200"/>
            <a:ext cx="9326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Penjualan 2023 berfluktuasi; Februari merupakan periode dengan sales terendah.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D9EAF7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651760"/>
            <a:ext cx="9326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Penurunan Februari lebih berkaitan dengan perubahan volume transaksi, karena Orders dan Quantity turun sementara AOV meningkat.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D9EAF7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886200"/>
            <a:ext cx="9326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Tindakan utama: optimalkan produk kontribusi tinggi, stabilkan volume transaksi, dan tingkatkan kualitas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D9EAF7"/>
                </a:solidFill>
                <a:latin typeface="Arial"/>
              </a:rPr>
              <a:t>Terima kasih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6464"/>
                </a:solidFill>
                <a:latin typeface="Arial"/>
              </a:rPr>
              <a:t>Maulana Aldi Pradana | XII TJKT C | Data Storytelling | 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