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Nama saya Ratu Dewi Kencana Sari, Junior Data Analyst. Ini Mini Project Mingguan Topik 3: Data Cleaning dan Preparation pada Cafe Sales Dataset. Tugas saya menyiapkan dataset yang siap dipakai Data Analyst Senior. Saya akan bahas tujuh poin: gambaran dataset, permasalahan, langkah cleaning, perubahan, feature engineering, dataset final, dan insight awal.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satu, gambaran dataset. File raw dirty_cafe_sales.csv berisi 10.000 baris dan 8 kolom transaksi kafe: Transaction ID, Item, Quantity, Price Per Unit, Total Spent, Payment Method, Location, dan Transaction Date. Tidak ada duplikat, ID unik. Tugas saya sebagai Junior Data Analyst adalah membersihkan data ini sampai siap dipakai Data Analyst Senior. Tools: Google Colab, pandas, numpy.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dua, permasalahan. Audit menemukan missing di 7 dari 8 kolom. Location 3.265 baris atau 32,65 persen, Payment Method 2.579 atau 25,79 persen. Item 333, Price 179, Total Spent 173, tanggal 159, Quantity 138. Semua kolom object, jadi angka tidak bisa dihitung. Ada juga token ERROR dan UNKNOWN. Tanpa cleaning, dataset ini tidak siap untuk Senior Analyst.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tiga, langkah cleaning. Empat tahap. Satu, audit. Dua, missing dan duplikat: numerik median, kategori modus, duplikat nol jadi tidak ada baris dibuang. Tiga, standardisasi nama kolom, teks kapital, tanggal ISO. Empat, feature engineering Year dan Month. Setiap tahap punya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empat, perubahan. Missing menjadi nol. Quantity, harga, total jadi float dengan median 3, 3.0, dan 8.0. Nama kolom pakai underscore. Teks jadi huruf kapital: Coffee menjadi COFFEE. Tanggal ISO tahun-bulan-hari. Duplikat tetap nol, 10.000 baris utuh. Dataset sekarang seragam dan bisa diolah.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lima, feature engineering. Dua kolom baru. Year dari Year Transaction_Date, tipe integer, untuk tren tahunan — 9.540 baris tahun 2023. Month dari Month_Name, tipe string, untuk seasonality. Oktober paling ramai, 838 transaksi. 460 baris tidak punya tanggal valid karena ERROR dan UNKNOWN gagal di-parse. Dataset sekarang 10 kolom. Dokumentasi ada di Feature Engineering Documentation.xlsx.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enam, dataset final. File Final Clean Dataset.csv, 10.000 baris, 10 kolom. Delapan kolom asli sudah bersih dan terstandar, plus Year dan Month. Nol duplikat, nol missing NaN. File ini yang saya serahkan ke Data Analyst Senior untuk EDA.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tujuh, insight awal — bukan EDA lengkap, hanya validasi data masuk akal. 10.000 transaksi, pendapatan 88.779 dollar 50 sen. Produk terlaris JUICE 1.504. Pembayaran DIGITAL WALLET 4.870. Lokasi TAKEAWAY 6.287. Oktober paling ramai. Dataset siap diserahkan. Terima kasih, saya siap menerima pertanyaan.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bg.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074920" y="0"/>
            <a:ext cx="7123176" cy="6858000"/>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074920" y="0"/>
            <a:ext cx="16459" cy="6858000"/>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532120" y="960120"/>
            <a:ext cx="6126480" cy="27432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1" i="0">
                <a:solidFill>
                  <a:srgbClr val="C4A35A"/>
                </a:solidFill>
                <a:latin typeface="Calibri"/>
                <a:cs typeface="Calibri"/>
                <a:ea typeface="Calibri"/>
              </a:rPr>
              <a:t>MINI PROJECT MINGGUAN</a:t>
            </a:r>
          </a:p>
        </p:txBody>
      </p:sp>
      <p:sp>
        <p:nvSpPr>
          <p:cNvPr id="6" name="Rectangle 5"/>
          <p:cNvSpPr/>
          <p:nvPr/>
        </p:nvSpPr>
        <p:spPr>
          <a:xfrm>
            <a:off x="5577840" y="1298448"/>
            <a:ext cx="1965960" cy="25603"/>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532120" y="1481328"/>
            <a:ext cx="6217920" cy="1417320"/>
          </a:xfrm>
          <a:prstGeom prst="rect">
            <a:avLst/>
          </a:prstGeom>
          <a:noFill/>
        </p:spPr>
        <p:txBody>
          <a:bodyPr wrap="square" lIns="36576" rIns="36576" tIns="18288" bIns="18288" anchor="t">
            <a:spAutoFit/>
          </a:bodyPr>
          <a:lstStyle/>
          <a:p>
            <a:pPr algn="l">
              <a:lnSpc>
                <a:spcPct val="95000"/>
              </a:lnSpc>
              <a:spcBef>
                <a:spcPts val="0"/>
              </a:spcBef>
              <a:spcAft>
                <a:spcPts val="0"/>
              </a:spcAft>
            </a:pPr>
            <a:r>
              <a:rPr sz="3600" b="1" i="0">
                <a:solidFill>
                  <a:srgbClr val="FFFCFA"/>
                </a:solidFill>
                <a:latin typeface="Calibri"/>
                <a:cs typeface="Calibri"/>
                <a:ea typeface="Calibri"/>
              </a:rPr>
              <a:t>Data Cleaning</a:t>
            </a:r>
          </a:p>
          <a:p>
            <a:pPr algn="l">
              <a:lnSpc>
                <a:spcPct val="95000"/>
              </a:lnSpc>
              <a:spcBef>
                <a:spcPts val="0"/>
              </a:spcBef>
              <a:spcAft>
                <a:spcPts val="0"/>
              </a:spcAft>
            </a:pPr>
            <a:r>
              <a:rPr sz="3600" b="1" i="0">
                <a:solidFill>
                  <a:srgbClr val="FFFCFA"/>
                </a:solidFill>
                <a:latin typeface="Calibri"/>
                <a:cs typeface="Calibri"/>
                <a:ea typeface="Calibri"/>
              </a:rPr>
              <a:t>&amp; Preparation</a:t>
            </a:r>
          </a:p>
        </p:txBody>
      </p:sp>
      <p:sp>
        <p:nvSpPr>
          <p:cNvPr id="8" name="TextBox 7"/>
          <p:cNvSpPr txBox="1"/>
          <p:nvPr/>
        </p:nvSpPr>
        <p:spPr>
          <a:xfrm>
            <a:off x="5532120" y="2944368"/>
            <a:ext cx="6217920"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200" b="0" i="1">
                <a:solidFill>
                  <a:srgbClr val="C4A35A"/>
                </a:solidFill>
                <a:latin typeface="Calibri"/>
                <a:cs typeface="Calibri"/>
                <a:ea typeface="Calibri"/>
              </a:rPr>
              <a:t>Cafe Sales Dataset</a:t>
            </a:r>
          </a:p>
        </p:txBody>
      </p:sp>
      <p:sp>
        <p:nvSpPr>
          <p:cNvPr id="9" name="TextBox 8"/>
          <p:cNvSpPr txBox="1"/>
          <p:nvPr/>
        </p:nvSpPr>
        <p:spPr>
          <a:xfrm>
            <a:off x="5532120" y="3310128"/>
            <a:ext cx="6217920" cy="502920"/>
          </a:xfrm>
          <a:prstGeom prst="rect">
            <a:avLst/>
          </a:prstGeom>
          <a:noFill/>
        </p:spPr>
        <p:txBody>
          <a:bodyPr wrap="square" lIns="36576" rIns="36576" tIns="18288" bIns="18288" anchor="t">
            <a:spAutoFit/>
          </a:bodyPr>
          <a:lstStyle/>
          <a:p>
            <a:pPr algn="l">
              <a:lnSpc>
                <a:spcPct val="112000"/>
              </a:lnSpc>
              <a:spcBef>
                <a:spcPts val="0"/>
              </a:spcBef>
              <a:spcAft>
                <a:spcPts val="0"/>
              </a:spcAft>
            </a:pPr>
            <a:r>
              <a:rPr sz="1300" b="0" i="0">
                <a:solidFill>
                  <a:srgbClr val="C9B89A"/>
                </a:solidFill>
                <a:latin typeface="Calibri"/>
                <a:cs typeface="Calibri"/>
                <a:ea typeface="Calibri"/>
              </a:rPr>
              <a:t>Studi kasus  ·  Dataset siap pakai untuk Data Analyst Senior</a:t>
            </a:r>
          </a:p>
          <a:p>
            <a:pPr algn="l">
              <a:lnSpc>
                <a:spcPct val="112000"/>
              </a:lnSpc>
              <a:spcBef>
                <a:spcPts val="0"/>
              </a:spcBef>
              <a:spcAft>
                <a:spcPts val="0"/>
              </a:spcAft>
            </a:pPr>
            <a:r>
              <a:rPr sz="1300" b="0" i="0">
                <a:solidFill>
                  <a:srgbClr val="C9B89A"/>
                </a:solidFill>
                <a:latin typeface="Calibri"/>
                <a:cs typeface="Calibri"/>
                <a:ea typeface="Calibri"/>
              </a:rPr>
              <a:t>Topik 3 — Simulasi Industri  ·  Edusoft Center</a:t>
            </a:r>
          </a:p>
        </p:txBody>
      </p:sp>
      <p:sp>
        <p:nvSpPr>
          <p:cNvPr id="10" name="Rectangle 9"/>
          <p:cNvSpPr/>
          <p:nvPr/>
        </p:nvSpPr>
        <p:spPr>
          <a:xfrm>
            <a:off x="5577840" y="3950208"/>
            <a:ext cx="1965960" cy="25603"/>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532120" y="4133087"/>
            <a:ext cx="6217920" cy="29260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600" b="1" i="0">
                <a:solidFill>
                  <a:srgbClr val="FFFCFA"/>
                </a:solidFill>
                <a:latin typeface="Calibri"/>
                <a:cs typeface="Calibri"/>
                <a:ea typeface="Calibri"/>
              </a:rPr>
              <a:t>Ratu Dewi Kencana Sari</a:t>
            </a:r>
          </a:p>
        </p:txBody>
      </p:sp>
      <p:sp>
        <p:nvSpPr>
          <p:cNvPr id="12" name="TextBox 11"/>
          <p:cNvSpPr txBox="1"/>
          <p:nvPr/>
        </p:nvSpPr>
        <p:spPr>
          <a:xfrm>
            <a:off x="5532120" y="4425696"/>
            <a:ext cx="6217920" cy="23774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C4A35A"/>
                </a:solidFill>
                <a:latin typeface="Calibri"/>
                <a:cs typeface="Calibri"/>
                <a:ea typeface="Calibri"/>
              </a:rPr>
              <a:t>Junior Data Analyst</a:t>
            </a:r>
          </a:p>
        </p:txBody>
      </p:sp>
      <p:sp>
        <p:nvSpPr>
          <p:cNvPr id="13" name="TextBox 12"/>
          <p:cNvSpPr txBox="1"/>
          <p:nvPr/>
        </p:nvSpPr>
        <p:spPr>
          <a:xfrm>
            <a:off x="5532120" y="4681728"/>
            <a:ext cx="6217920" cy="23774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C9B89A"/>
                </a:solidFill>
                <a:latin typeface="Calibri"/>
                <a:cs typeface="Calibri"/>
                <a:ea typeface="Calibri"/>
              </a:rPr>
              <a:t>Agustus 2026</a:t>
            </a:r>
          </a:p>
        </p:txBody>
      </p:sp>
      <p:sp>
        <p:nvSpPr>
          <p:cNvPr id="14" name="Rectangle 13"/>
          <p:cNvSpPr/>
          <p:nvPr/>
        </p:nvSpPr>
        <p:spPr>
          <a:xfrm>
            <a:off x="5074920" y="5989320"/>
            <a:ext cx="7123176" cy="868680"/>
          </a:xfrm>
          <a:prstGeom prst="rect">
            <a:avLst/>
          </a:prstGeom>
          <a:solidFill>
            <a:srgbClr val="120E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532120" y="5989320"/>
            <a:ext cx="6217920" cy="868680"/>
          </a:xfrm>
          <a:prstGeom prst="rect">
            <a:avLst/>
          </a:prstGeom>
          <a:noFill/>
        </p:spPr>
        <p:txBody>
          <a:bodyPr wrap="square" lIns="36576" rIns="36576" tIns="18288" bIns="18288" anchor="ctr">
            <a:spAutoFit/>
          </a:bodyPr>
          <a:lstStyle/>
          <a:p>
            <a:pPr algn="l">
              <a:lnSpc>
                <a:spcPct val="115000"/>
              </a:lnSpc>
              <a:spcBef>
                <a:spcPts val="0"/>
              </a:spcBef>
              <a:spcAft>
                <a:spcPts val="0"/>
              </a:spcAft>
            </a:pPr>
            <a:r>
              <a:rPr sz="1100" b="0" i="0">
                <a:solidFill>
                  <a:srgbClr val="C9B89A"/>
                </a:solidFill>
                <a:latin typeface="Calibri"/>
                <a:cs typeface="Calibri"/>
                <a:ea typeface="Calibri"/>
              </a:rPr>
              <a:t>1 Dataset   2 Masalah   3 Cleaning   4 Perubahan</a:t>
            </a:r>
          </a:p>
          <a:p>
            <a:pPr algn="l">
              <a:lnSpc>
                <a:spcPct val="115000"/>
              </a:lnSpc>
              <a:spcBef>
                <a:spcPts val="0"/>
              </a:spcBef>
              <a:spcAft>
                <a:spcPts val="0"/>
              </a:spcAft>
            </a:pPr>
            <a:r>
              <a:rPr sz="1100" b="0" i="0">
                <a:solidFill>
                  <a:srgbClr val="C9B89A"/>
                </a:solidFill>
                <a:latin typeface="Calibri"/>
                <a:cs typeface="Calibri"/>
                <a:ea typeface="Calibri"/>
              </a:rPr>
              <a:t>5 Feature engineering   6 Dataset final   7 Insight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841248"/>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841248"/>
            <a:ext cx="12191695" cy="34747"/>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icon_data.png"/>
          <p:cNvPicPr>
            <a:picLocks noChangeAspect="1"/>
          </p:cNvPicPr>
          <p:nvPr/>
        </p:nvPicPr>
        <p:blipFill>
          <a:blip r:embed="rId2"/>
          <a:stretch>
            <a:fillRect/>
          </a:stretch>
        </p:blipFill>
        <p:spPr>
          <a:xfrm>
            <a:off x="347472" y="201168"/>
            <a:ext cx="438912" cy="438912"/>
          </a:xfrm>
          <a:prstGeom prst="rect">
            <a:avLst/>
          </a:prstGeom>
        </p:spPr>
      </p:pic>
      <p:sp>
        <p:nvSpPr>
          <p:cNvPr id="6" name="TextBox 5"/>
          <p:cNvSpPr txBox="1"/>
          <p:nvPr/>
        </p:nvSpPr>
        <p:spPr>
          <a:xfrm>
            <a:off x="987552" y="128016"/>
            <a:ext cx="8412480" cy="38404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1  ·  Gambaran Dataset</a:t>
            </a:r>
          </a:p>
        </p:txBody>
      </p:sp>
      <p:sp>
        <p:nvSpPr>
          <p:cNvPr id="7" name="TextBox 6"/>
          <p:cNvSpPr txBox="1"/>
          <p:nvPr/>
        </p:nvSpPr>
        <p:spPr>
          <a:xfrm>
            <a:off x="987552" y="475488"/>
            <a:ext cx="8412480" cy="27432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0" i="0">
                <a:solidFill>
                  <a:srgbClr val="C4A35A"/>
                </a:solidFill>
                <a:latin typeface="Calibri"/>
                <a:cs typeface="Calibri"/>
                <a:ea typeface="Calibri"/>
              </a:rPr>
              <a:t>Raw data yang diserahkan tim bisnis kepada Junior Data Analyst</a:t>
            </a:r>
          </a:p>
        </p:txBody>
      </p:sp>
      <p:sp>
        <p:nvSpPr>
          <p:cNvPr id="8" name="Rounded Rectangle 7"/>
          <p:cNvSpPr/>
          <p:nvPr/>
        </p:nvSpPr>
        <p:spPr>
          <a:xfrm>
            <a:off x="10195560" y="237744"/>
            <a:ext cx="1600200" cy="365760"/>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95560" y="237744"/>
            <a:ext cx="1600200" cy="36576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100" b="1" i="0">
                <a:solidFill>
                  <a:srgbClr val="C4A35A"/>
                </a:solidFill>
                <a:latin typeface="Calibri"/>
                <a:cs typeface="Calibri"/>
                <a:ea typeface="Calibri"/>
              </a:rPr>
              <a:t>POIN 1</a:t>
            </a:r>
          </a:p>
        </p:txBody>
      </p:sp>
      <p:sp>
        <p:nvSpPr>
          <p:cNvPr id="10" name="Rectangle 9"/>
          <p:cNvSpPr/>
          <p:nvPr/>
        </p:nvSpPr>
        <p:spPr>
          <a:xfrm>
            <a:off x="0" y="6565392"/>
            <a:ext cx="12191695" cy="292608"/>
          </a:xfrm>
          <a:prstGeom prst="rect">
            <a:avLst/>
          </a:prstGeom>
          <a:solidFill>
            <a:srgbClr val="2A1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5760" y="6565392"/>
            <a:ext cx="8686800" cy="29260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000" b="0" i="0">
                <a:solidFill>
                  <a:srgbClr val="C9B89A"/>
                </a:solidFill>
                <a:latin typeface="Calibri"/>
                <a:cs typeface="Calibri"/>
                <a:ea typeface="Calibri"/>
              </a:rPr>
              <a:t>Ratu Dewi Kencana Sari  ·  Mini Project Mingguan</a:t>
            </a:r>
          </a:p>
        </p:txBody>
      </p:sp>
      <p:sp>
        <p:nvSpPr>
          <p:cNvPr id="12" name="TextBox 11"/>
          <p:cNvSpPr txBox="1"/>
          <p:nvPr/>
        </p:nvSpPr>
        <p:spPr>
          <a:xfrm>
            <a:off x="9692640" y="6565392"/>
            <a:ext cx="2103120" cy="29260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000" b="1" i="0">
                <a:solidFill>
                  <a:srgbClr val="C4A35A"/>
                </a:solidFill>
                <a:latin typeface="Calibri"/>
                <a:cs typeface="Calibri"/>
                <a:ea typeface="Calibri"/>
              </a:rPr>
              <a:t>02  /  08</a:t>
            </a:r>
          </a:p>
        </p:txBody>
      </p:sp>
      <p:sp>
        <p:nvSpPr>
          <p:cNvPr id="13" name="Rounded Rectangle 12"/>
          <p:cNvSpPr/>
          <p:nvPr/>
        </p:nvSpPr>
        <p:spPr>
          <a:xfrm>
            <a:off x="411480" y="1078992"/>
            <a:ext cx="3666744" cy="1170432"/>
          </a:xfrm>
          <a:prstGeom prst="roundRect">
            <a:avLst>
              <a:gd name="adj" fmla="val 8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078992"/>
            <a:ext cx="73152" cy="117043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12648" y="1133856"/>
            <a:ext cx="3337560"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800" b="1" i="0">
                <a:solidFill>
                  <a:srgbClr val="1A120C"/>
                </a:solidFill>
                <a:latin typeface="Calibri"/>
                <a:cs typeface="Calibri"/>
                <a:ea typeface="Calibri"/>
              </a:rPr>
              <a:t>10.000</a:t>
            </a:r>
          </a:p>
        </p:txBody>
      </p:sp>
      <p:sp>
        <p:nvSpPr>
          <p:cNvPr id="16" name="TextBox 15"/>
          <p:cNvSpPr txBox="1"/>
          <p:nvPr/>
        </p:nvSpPr>
        <p:spPr>
          <a:xfrm>
            <a:off x="612648" y="1591056"/>
            <a:ext cx="333756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A8883E"/>
                </a:solidFill>
                <a:latin typeface="Calibri"/>
                <a:cs typeface="Calibri"/>
                <a:ea typeface="Calibri"/>
              </a:rPr>
              <a:t>Baris transaksi</a:t>
            </a:r>
          </a:p>
        </p:txBody>
      </p:sp>
      <p:sp>
        <p:nvSpPr>
          <p:cNvPr id="17" name="TextBox 16"/>
          <p:cNvSpPr txBox="1"/>
          <p:nvPr/>
        </p:nvSpPr>
        <p:spPr>
          <a:xfrm>
            <a:off x="612648" y="1847088"/>
            <a:ext cx="3337560" cy="27432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0" i="0">
                <a:solidFill>
                  <a:srgbClr val="6B5E52"/>
                </a:solidFill>
                <a:latin typeface="Calibri"/>
                <a:cs typeface="Calibri"/>
                <a:ea typeface="Calibri"/>
              </a:rPr>
              <a:t>dirty_cafe_sales.csv</a:t>
            </a:r>
          </a:p>
        </p:txBody>
      </p:sp>
      <p:sp>
        <p:nvSpPr>
          <p:cNvPr id="18" name="Rounded Rectangle 17"/>
          <p:cNvSpPr/>
          <p:nvPr/>
        </p:nvSpPr>
        <p:spPr>
          <a:xfrm>
            <a:off x="4261104" y="1078992"/>
            <a:ext cx="3666744" cy="1170432"/>
          </a:xfrm>
          <a:prstGeom prst="roundRect">
            <a:avLst>
              <a:gd name="adj" fmla="val 8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261104" y="1078992"/>
            <a:ext cx="73152" cy="117043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62272" y="1133856"/>
            <a:ext cx="3337560"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800" b="1" i="0">
                <a:solidFill>
                  <a:srgbClr val="1A120C"/>
                </a:solidFill>
                <a:latin typeface="Calibri"/>
                <a:cs typeface="Calibri"/>
                <a:ea typeface="Calibri"/>
              </a:rPr>
              <a:t>8</a:t>
            </a:r>
          </a:p>
        </p:txBody>
      </p:sp>
      <p:sp>
        <p:nvSpPr>
          <p:cNvPr id="21" name="TextBox 20"/>
          <p:cNvSpPr txBox="1"/>
          <p:nvPr/>
        </p:nvSpPr>
        <p:spPr>
          <a:xfrm>
            <a:off x="4462272" y="1591056"/>
            <a:ext cx="333756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A8883E"/>
                </a:solidFill>
                <a:latin typeface="Calibri"/>
                <a:cs typeface="Calibri"/>
                <a:ea typeface="Calibri"/>
              </a:rPr>
              <a:t>Kolom atribut</a:t>
            </a:r>
          </a:p>
        </p:txBody>
      </p:sp>
      <p:sp>
        <p:nvSpPr>
          <p:cNvPr id="22" name="TextBox 21"/>
          <p:cNvSpPr txBox="1"/>
          <p:nvPr/>
        </p:nvSpPr>
        <p:spPr>
          <a:xfrm>
            <a:off x="4462272" y="1847088"/>
            <a:ext cx="3337560" cy="27432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0" i="0">
                <a:solidFill>
                  <a:srgbClr val="6B5E52"/>
                </a:solidFill>
                <a:latin typeface="Calibri"/>
                <a:cs typeface="Calibri"/>
                <a:ea typeface="Calibri"/>
              </a:rPr>
              <a:t>ID, item, nilai, lokasi, tanggal</a:t>
            </a:r>
          </a:p>
        </p:txBody>
      </p:sp>
      <p:sp>
        <p:nvSpPr>
          <p:cNvPr id="23" name="Rounded Rectangle 22"/>
          <p:cNvSpPr/>
          <p:nvPr/>
        </p:nvSpPr>
        <p:spPr>
          <a:xfrm>
            <a:off x="8110727" y="1078992"/>
            <a:ext cx="3666744" cy="1170432"/>
          </a:xfrm>
          <a:prstGeom prst="roundRect">
            <a:avLst>
              <a:gd name="adj" fmla="val 8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110727" y="1078992"/>
            <a:ext cx="73152" cy="117043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11896" y="1133856"/>
            <a:ext cx="3337560"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800" b="1" i="0">
                <a:solidFill>
                  <a:srgbClr val="1A120C"/>
                </a:solidFill>
                <a:latin typeface="Calibri"/>
                <a:cs typeface="Calibri"/>
                <a:ea typeface="Calibri"/>
              </a:rPr>
              <a:t>0</a:t>
            </a:r>
          </a:p>
        </p:txBody>
      </p:sp>
      <p:sp>
        <p:nvSpPr>
          <p:cNvPr id="26" name="TextBox 25"/>
          <p:cNvSpPr txBox="1"/>
          <p:nvPr/>
        </p:nvSpPr>
        <p:spPr>
          <a:xfrm>
            <a:off x="8311896" y="1591056"/>
            <a:ext cx="333756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A8883E"/>
                </a:solidFill>
                <a:latin typeface="Calibri"/>
                <a:cs typeface="Calibri"/>
                <a:ea typeface="Calibri"/>
              </a:rPr>
              <a:t>Baris duplikat</a:t>
            </a:r>
          </a:p>
        </p:txBody>
      </p:sp>
      <p:sp>
        <p:nvSpPr>
          <p:cNvPr id="27" name="TextBox 26"/>
          <p:cNvSpPr txBox="1"/>
          <p:nvPr/>
        </p:nvSpPr>
        <p:spPr>
          <a:xfrm>
            <a:off x="8311896" y="1847088"/>
            <a:ext cx="3337560" cy="27432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0" i="0">
                <a:solidFill>
                  <a:srgbClr val="6B5E52"/>
                </a:solidFill>
                <a:latin typeface="Calibri"/>
                <a:cs typeface="Calibri"/>
                <a:ea typeface="Calibri"/>
              </a:rPr>
              <a:t>Transaction ID 100% unik</a:t>
            </a:r>
          </a:p>
        </p:txBody>
      </p:sp>
      <p:sp>
        <p:nvSpPr>
          <p:cNvPr id="28" name="TextBox 27"/>
          <p:cNvSpPr txBox="1"/>
          <p:nvPr/>
        </p:nvSpPr>
        <p:spPr>
          <a:xfrm>
            <a:off x="411480" y="2395728"/>
            <a:ext cx="11338560" cy="23774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1" i="0">
                <a:solidFill>
                  <a:srgbClr val="A8883E"/>
                </a:solidFill>
                <a:latin typeface="Calibri"/>
                <a:cs typeface="Calibri"/>
                <a:ea typeface="Calibri"/>
              </a:rPr>
              <a:t>DELAPAN KOLOM RAW DATASET</a:t>
            </a:r>
          </a:p>
        </p:txBody>
      </p:sp>
      <p:sp>
        <p:nvSpPr>
          <p:cNvPr id="29" name="Rounded Rectangle 28"/>
          <p:cNvSpPr/>
          <p:nvPr/>
        </p:nvSpPr>
        <p:spPr>
          <a:xfrm>
            <a:off x="411480" y="268833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39496" y="2779776"/>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Transaction ID</a:t>
            </a:r>
          </a:p>
        </p:txBody>
      </p:sp>
      <p:sp>
        <p:nvSpPr>
          <p:cNvPr id="31" name="TextBox 30"/>
          <p:cNvSpPr txBox="1"/>
          <p:nvPr/>
        </p:nvSpPr>
        <p:spPr>
          <a:xfrm>
            <a:off x="539496" y="310896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ID unik transaksi</a:t>
            </a:r>
          </a:p>
        </p:txBody>
      </p:sp>
      <p:sp>
        <p:nvSpPr>
          <p:cNvPr id="32" name="Rounded Rectangle 31"/>
          <p:cNvSpPr/>
          <p:nvPr/>
        </p:nvSpPr>
        <p:spPr>
          <a:xfrm>
            <a:off x="3319272" y="268833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447288" y="2779776"/>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Item</a:t>
            </a:r>
          </a:p>
        </p:txBody>
      </p:sp>
      <p:sp>
        <p:nvSpPr>
          <p:cNvPr id="34" name="TextBox 33"/>
          <p:cNvSpPr txBox="1"/>
          <p:nvPr/>
        </p:nvSpPr>
        <p:spPr>
          <a:xfrm>
            <a:off x="3447288" y="310896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Produk yang dibeli</a:t>
            </a:r>
          </a:p>
        </p:txBody>
      </p:sp>
      <p:sp>
        <p:nvSpPr>
          <p:cNvPr id="35" name="Rounded Rectangle 34"/>
          <p:cNvSpPr/>
          <p:nvPr/>
        </p:nvSpPr>
        <p:spPr>
          <a:xfrm>
            <a:off x="6227064" y="268833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55080" y="2779776"/>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Quantity</a:t>
            </a:r>
          </a:p>
        </p:txBody>
      </p:sp>
      <p:sp>
        <p:nvSpPr>
          <p:cNvPr id="37" name="TextBox 36"/>
          <p:cNvSpPr txBox="1"/>
          <p:nvPr/>
        </p:nvSpPr>
        <p:spPr>
          <a:xfrm>
            <a:off x="6355080" y="310896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Jumlah item</a:t>
            </a:r>
          </a:p>
        </p:txBody>
      </p:sp>
      <p:sp>
        <p:nvSpPr>
          <p:cNvPr id="38" name="Rounded Rectangle 37"/>
          <p:cNvSpPr/>
          <p:nvPr/>
        </p:nvSpPr>
        <p:spPr>
          <a:xfrm>
            <a:off x="9134856" y="268833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262872" y="2779776"/>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Price Per Unit</a:t>
            </a:r>
          </a:p>
        </p:txBody>
      </p:sp>
      <p:sp>
        <p:nvSpPr>
          <p:cNvPr id="40" name="TextBox 39"/>
          <p:cNvSpPr txBox="1"/>
          <p:nvPr/>
        </p:nvSpPr>
        <p:spPr>
          <a:xfrm>
            <a:off x="9262872" y="310896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Harga satuan</a:t>
            </a:r>
          </a:p>
        </p:txBody>
      </p:sp>
      <p:sp>
        <p:nvSpPr>
          <p:cNvPr id="41" name="Rounded Rectangle 40"/>
          <p:cNvSpPr/>
          <p:nvPr/>
        </p:nvSpPr>
        <p:spPr>
          <a:xfrm>
            <a:off x="411480" y="373989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39496" y="3831335"/>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Total Spent</a:t>
            </a:r>
          </a:p>
        </p:txBody>
      </p:sp>
      <p:sp>
        <p:nvSpPr>
          <p:cNvPr id="43" name="TextBox 42"/>
          <p:cNvSpPr txBox="1"/>
          <p:nvPr/>
        </p:nvSpPr>
        <p:spPr>
          <a:xfrm>
            <a:off x="539496" y="416052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Total belanja</a:t>
            </a:r>
          </a:p>
        </p:txBody>
      </p:sp>
      <p:sp>
        <p:nvSpPr>
          <p:cNvPr id="44" name="Rounded Rectangle 43"/>
          <p:cNvSpPr/>
          <p:nvPr/>
        </p:nvSpPr>
        <p:spPr>
          <a:xfrm>
            <a:off x="3319272" y="373989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447288" y="3831335"/>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Payment Method</a:t>
            </a:r>
          </a:p>
        </p:txBody>
      </p:sp>
      <p:sp>
        <p:nvSpPr>
          <p:cNvPr id="46" name="TextBox 45"/>
          <p:cNvSpPr txBox="1"/>
          <p:nvPr/>
        </p:nvSpPr>
        <p:spPr>
          <a:xfrm>
            <a:off x="3447288" y="416052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Cara bayar</a:t>
            </a:r>
          </a:p>
        </p:txBody>
      </p:sp>
      <p:sp>
        <p:nvSpPr>
          <p:cNvPr id="47" name="Rounded Rectangle 46"/>
          <p:cNvSpPr/>
          <p:nvPr/>
        </p:nvSpPr>
        <p:spPr>
          <a:xfrm>
            <a:off x="6227064" y="373989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355080" y="3831335"/>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Location</a:t>
            </a:r>
          </a:p>
        </p:txBody>
      </p:sp>
      <p:sp>
        <p:nvSpPr>
          <p:cNvPr id="49" name="TextBox 48"/>
          <p:cNvSpPr txBox="1"/>
          <p:nvPr/>
        </p:nvSpPr>
        <p:spPr>
          <a:xfrm>
            <a:off x="6355080" y="416052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In-store / Takeaway</a:t>
            </a:r>
          </a:p>
        </p:txBody>
      </p:sp>
      <p:sp>
        <p:nvSpPr>
          <p:cNvPr id="50" name="Rounded Rectangle 49"/>
          <p:cNvSpPr/>
          <p:nvPr/>
        </p:nvSpPr>
        <p:spPr>
          <a:xfrm>
            <a:off x="9134856" y="3739896"/>
            <a:ext cx="2788920" cy="960120"/>
          </a:xfrm>
          <a:prstGeom prst="roundRect">
            <a:avLst>
              <a:gd name="adj" fmla="val 10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262872" y="3831335"/>
            <a:ext cx="2532888"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1A120C"/>
                </a:solidFill>
                <a:latin typeface="Calibri"/>
                <a:cs typeface="Calibri"/>
                <a:ea typeface="Calibri"/>
              </a:rPr>
              <a:t>Transaction Date</a:t>
            </a:r>
          </a:p>
        </p:txBody>
      </p:sp>
      <p:sp>
        <p:nvSpPr>
          <p:cNvPr id="52" name="TextBox 51"/>
          <p:cNvSpPr txBox="1"/>
          <p:nvPr/>
        </p:nvSpPr>
        <p:spPr>
          <a:xfrm>
            <a:off x="9262872" y="4160520"/>
            <a:ext cx="2532888" cy="42062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Tanggal transaksi</a:t>
            </a:r>
          </a:p>
        </p:txBody>
      </p:sp>
      <p:sp>
        <p:nvSpPr>
          <p:cNvPr id="53" name="Rounded Rectangle 52"/>
          <p:cNvSpPr/>
          <p:nvPr/>
        </p:nvSpPr>
        <p:spPr>
          <a:xfrm>
            <a:off x="411480" y="4919472"/>
            <a:ext cx="11365992" cy="1078992"/>
          </a:xfrm>
          <a:prstGeom prst="roundRect">
            <a:avLst>
              <a:gd name="adj" fmla="val 5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411480" y="4919472"/>
            <a:ext cx="82296" cy="107899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85800" y="5010912"/>
            <a:ext cx="1097280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1" i="0">
                <a:solidFill>
                  <a:srgbClr val="A8883E"/>
                </a:solidFill>
                <a:latin typeface="Calibri"/>
                <a:cs typeface="Calibri"/>
                <a:ea typeface="Calibri"/>
              </a:rPr>
              <a:t>TUGAS JUNIOR DATA ANALYST</a:t>
            </a:r>
          </a:p>
        </p:txBody>
      </p:sp>
      <p:sp>
        <p:nvSpPr>
          <p:cNvPr id="56" name="TextBox 55"/>
          <p:cNvSpPr txBox="1"/>
          <p:nvPr/>
        </p:nvSpPr>
        <p:spPr>
          <a:xfrm>
            <a:off x="685800" y="5285232"/>
            <a:ext cx="10972800" cy="566928"/>
          </a:xfrm>
          <a:prstGeom prst="rect">
            <a:avLst/>
          </a:prstGeom>
          <a:noFill/>
        </p:spPr>
        <p:txBody>
          <a:bodyPr wrap="square" lIns="36576" rIns="36576" tIns="18288" bIns="18288" anchor="t">
            <a:spAutoFit/>
          </a:bodyPr>
          <a:lstStyle/>
          <a:p>
            <a:pPr algn="l">
              <a:lnSpc>
                <a:spcPct val="112000"/>
              </a:lnSpc>
              <a:spcBef>
                <a:spcPts val="0"/>
              </a:spcBef>
              <a:spcAft>
                <a:spcPts val="0"/>
              </a:spcAft>
            </a:pPr>
            <a:r>
              <a:rPr sz="1300" b="0" i="0">
                <a:solidFill>
                  <a:srgbClr val="2A2118"/>
                </a:solidFill>
                <a:latin typeface="Calibri"/>
                <a:cs typeface="Calibri"/>
                <a:ea typeface="Calibri"/>
              </a:rPr>
              <a:t>Menyerahkan dataset yang siap digunakan Data Analyst Senior. Pengerjaan di Google Colab (Python, pandas, numpy), dari audit raw data hingga Final Clean Dataset.csv.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841248"/>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841248"/>
            <a:ext cx="12191695" cy="34747"/>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icon_data.png"/>
          <p:cNvPicPr>
            <a:picLocks noChangeAspect="1"/>
          </p:cNvPicPr>
          <p:nvPr/>
        </p:nvPicPr>
        <p:blipFill>
          <a:blip r:embed="rId2"/>
          <a:stretch>
            <a:fillRect/>
          </a:stretch>
        </p:blipFill>
        <p:spPr>
          <a:xfrm>
            <a:off x="347472" y="201168"/>
            <a:ext cx="438912" cy="438912"/>
          </a:xfrm>
          <a:prstGeom prst="rect">
            <a:avLst/>
          </a:prstGeom>
        </p:spPr>
      </p:pic>
      <p:sp>
        <p:nvSpPr>
          <p:cNvPr id="6" name="TextBox 5"/>
          <p:cNvSpPr txBox="1"/>
          <p:nvPr/>
        </p:nvSpPr>
        <p:spPr>
          <a:xfrm>
            <a:off x="987552" y="128016"/>
            <a:ext cx="8412480" cy="38404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2  ·  Permasalahan Data yang Ditemukan</a:t>
            </a:r>
          </a:p>
        </p:txBody>
      </p:sp>
      <p:sp>
        <p:nvSpPr>
          <p:cNvPr id="7" name="TextBox 6"/>
          <p:cNvSpPr txBox="1"/>
          <p:nvPr/>
        </p:nvSpPr>
        <p:spPr>
          <a:xfrm>
            <a:off x="987552" y="475488"/>
            <a:ext cx="8412480" cy="27432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0" i="0">
                <a:solidFill>
                  <a:srgbClr val="C4A35A"/>
                </a:solidFill>
                <a:latin typeface="Calibri"/>
                <a:cs typeface="Calibri"/>
                <a:ea typeface="Calibri"/>
              </a:rPr>
              <a:t>Hasil initial data audit — data belum bisa dianalisis</a:t>
            </a:r>
          </a:p>
        </p:txBody>
      </p:sp>
      <p:sp>
        <p:nvSpPr>
          <p:cNvPr id="8" name="Rounded Rectangle 7"/>
          <p:cNvSpPr/>
          <p:nvPr/>
        </p:nvSpPr>
        <p:spPr>
          <a:xfrm>
            <a:off x="10195560" y="237744"/>
            <a:ext cx="1600200" cy="365760"/>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95560" y="237744"/>
            <a:ext cx="1600200" cy="36576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100" b="1" i="0">
                <a:solidFill>
                  <a:srgbClr val="C4A35A"/>
                </a:solidFill>
                <a:latin typeface="Calibri"/>
                <a:cs typeface="Calibri"/>
                <a:ea typeface="Calibri"/>
              </a:rPr>
              <a:t>POIN 2</a:t>
            </a:r>
          </a:p>
        </p:txBody>
      </p:sp>
      <p:sp>
        <p:nvSpPr>
          <p:cNvPr id="10" name="Rectangle 9"/>
          <p:cNvSpPr/>
          <p:nvPr/>
        </p:nvSpPr>
        <p:spPr>
          <a:xfrm>
            <a:off x="0" y="6565392"/>
            <a:ext cx="12191695" cy="292608"/>
          </a:xfrm>
          <a:prstGeom prst="rect">
            <a:avLst/>
          </a:prstGeom>
          <a:solidFill>
            <a:srgbClr val="2A1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5760" y="6565392"/>
            <a:ext cx="8686800" cy="29260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000" b="0" i="0">
                <a:solidFill>
                  <a:srgbClr val="C9B89A"/>
                </a:solidFill>
                <a:latin typeface="Calibri"/>
                <a:cs typeface="Calibri"/>
                <a:ea typeface="Calibri"/>
              </a:rPr>
              <a:t>Ratu Dewi Kencana Sari  ·  Mini Project Mingguan</a:t>
            </a:r>
          </a:p>
        </p:txBody>
      </p:sp>
      <p:sp>
        <p:nvSpPr>
          <p:cNvPr id="12" name="TextBox 11"/>
          <p:cNvSpPr txBox="1"/>
          <p:nvPr/>
        </p:nvSpPr>
        <p:spPr>
          <a:xfrm>
            <a:off x="9692640" y="6565392"/>
            <a:ext cx="2103120" cy="29260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000" b="1" i="0">
                <a:solidFill>
                  <a:srgbClr val="C4A35A"/>
                </a:solidFill>
                <a:latin typeface="Calibri"/>
                <a:cs typeface="Calibri"/>
                <a:ea typeface="Calibri"/>
              </a:rPr>
              <a:t>03  /  08</a:t>
            </a:r>
          </a:p>
        </p:txBody>
      </p:sp>
      <p:sp>
        <p:nvSpPr>
          <p:cNvPr id="13" name="TextBox 12"/>
          <p:cNvSpPr txBox="1"/>
          <p:nvPr/>
        </p:nvSpPr>
        <p:spPr>
          <a:xfrm>
            <a:off x="411480" y="1024128"/>
            <a:ext cx="7315200" cy="23774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1" i="0">
                <a:solidFill>
                  <a:srgbClr val="A8883E"/>
                </a:solidFill>
                <a:latin typeface="Calibri"/>
                <a:cs typeface="Calibri"/>
                <a:ea typeface="Calibri"/>
              </a:rPr>
              <a:t>MISSING VALUE PER KOLOM  ·  INITIAL DATA AUDIT.XLSX</a:t>
            </a:r>
          </a:p>
        </p:txBody>
      </p:sp>
      <p:graphicFrame>
        <p:nvGraphicFramePr>
          <p:cNvPr id="14" name="Table 13"/>
          <p:cNvGraphicFramePr>
            <a:graphicFrameLocks noGrp="1"/>
          </p:cNvGraphicFramePr>
          <p:nvPr/>
        </p:nvGraphicFramePr>
        <p:xfrm>
          <a:off x="411480" y="1280160"/>
          <a:ext cx="7452357" cy="4681728"/>
        </p:xfrm>
        <a:graphic>
          <a:graphicData uri="http://schemas.openxmlformats.org/drawingml/2006/table">
            <a:tbl>
              <a:tblPr firstRow="1" bandRow="1">
                <a:tableStyleId>{5C22544A-7EE6-4342-B048-85BDC9FD1C3A}</a:tableStyleId>
              </a:tblPr>
              <a:tblGrid>
                <a:gridCol w="2322813"/>
                <a:gridCol w="1258190"/>
                <a:gridCol w="1161406"/>
                <a:gridCol w="1354974"/>
                <a:gridCol w="1354974"/>
              </a:tblGrid>
              <a:tr h="329184">
                <a:tc>
                  <a:txBody>
                    <a:bodyPr wrap="square" rIns="73152" tIns="36576" bIns="36576"/>
                    <a:lstStyle/>
                    <a:p>
                      <a:pPr algn="l"/>
                      <a:r>
                        <a:rPr sz="1100" b="1" i="0">
                          <a:solidFill>
                            <a:srgbClr val="FFFCFA"/>
                          </a:solidFill>
                          <a:latin typeface="Calibri"/>
                          <a:cs typeface="Calibri"/>
                          <a:ea typeface="Calibri"/>
                        </a:rPr>
                        <a:t>Nama kolom</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Missing</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Tipe</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Nilai unik</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r>
              <a:tr h="544068">
                <a:tc>
                  <a:txBody>
                    <a:bodyPr wrap="square" rIns="73152" tIns="36576" bIns="36576"/>
                    <a:lstStyle/>
                    <a:p>
                      <a:pPr algn="l"/>
                      <a:r>
                        <a:rPr sz="1200" b="1" i="0">
                          <a:solidFill>
                            <a:srgbClr val="2A2118"/>
                          </a:solidFill>
                          <a:latin typeface="Calibri"/>
                          <a:cs typeface="Calibri"/>
                          <a:ea typeface="Calibri"/>
                        </a:rPr>
                        <a:t>Transaction ID</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0</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0,00%</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10.000</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544068">
                <a:tc>
                  <a:txBody>
                    <a:bodyPr wrap="square" rIns="73152" tIns="36576" bIns="36576"/>
                    <a:lstStyle/>
                    <a:p>
                      <a:pPr algn="l"/>
                      <a:r>
                        <a:rPr sz="1200" b="1" i="0">
                          <a:solidFill>
                            <a:srgbClr val="2A2118"/>
                          </a:solidFill>
                          <a:latin typeface="Calibri"/>
                          <a:cs typeface="Calibri"/>
                          <a:ea typeface="Calibri"/>
                        </a:rPr>
                        <a:t>Item</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333</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3,33%</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10</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544068">
                <a:tc>
                  <a:txBody>
                    <a:bodyPr wrap="square" rIns="73152" tIns="36576" bIns="36576"/>
                    <a:lstStyle/>
                    <a:p>
                      <a:pPr algn="l"/>
                      <a:r>
                        <a:rPr sz="1200" b="1" i="0">
                          <a:solidFill>
                            <a:srgbClr val="2A2118"/>
                          </a:solidFill>
                          <a:latin typeface="Calibri"/>
                          <a:cs typeface="Calibri"/>
                          <a:ea typeface="Calibri"/>
                        </a:rPr>
                        <a:t>Quantity</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138</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1,38%</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7</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544068">
                <a:tc>
                  <a:txBody>
                    <a:bodyPr wrap="square" rIns="73152" tIns="36576" bIns="36576"/>
                    <a:lstStyle/>
                    <a:p>
                      <a:pPr algn="l"/>
                      <a:r>
                        <a:rPr sz="1200" b="1" i="0">
                          <a:solidFill>
                            <a:srgbClr val="2A2118"/>
                          </a:solidFill>
                          <a:latin typeface="Calibri"/>
                          <a:cs typeface="Calibri"/>
                          <a:ea typeface="Calibri"/>
                        </a:rPr>
                        <a:t>Price Per Unit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179</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1,79%</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8</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544068">
                <a:tc>
                  <a:txBody>
                    <a:bodyPr wrap="square" rIns="73152" tIns="36576" bIns="36576"/>
                    <a:lstStyle/>
                    <a:p>
                      <a:pPr algn="l"/>
                      <a:r>
                        <a:rPr sz="1200" b="1" i="0">
                          <a:solidFill>
                            <a:srgbClr val="2A2118"/>
                          </a:solidFill>
                          <a:latin typeface="Calibri"/>
                          <a:cs typeface="Calibri"/>
                          <a:ea typeface="Calibri"/>
                        </a:rPr>
                        <a:t>Total Spent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173</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1,73%</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19</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544068">
                <a:tc>
                  <a:txBody>
                    <a:bodyPr wrap="square" rIns="73152" tIns="36576" bIns="36576"/>
                    <a:lstStyle/>
                    <a:p>
                      <a:pPr algn="l"/>
                      <a:r>
                        <a:rPr sz="1200" b="1" i="0">
                          <a:solidFill>
                            <a:srgbClr val="2A2118"/>
                          </a:solidFill>
                          <a:latin typeface="Calibri"/>
                          <a:cs typeface="Calibri"/>
                          <a:ea typeface="Calibri"/>
                        </a:rPr>
                        <a:t>Payment Method</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2.579</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25,79%</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5</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544068">
                <a:tc>
                  <a:txBody>
                    <a:bodyPr wrap="square" rIns="73152" tIns="36576" bIns="36576"/>
                    <a:lstStyle/>
                    <a:p>
                      <a:pPr algn="l"/>
                      <a:r>
                        <a:rPr sz="1200" b="1" i="0">
                          <a:solidFill>
                            <a:srgbClr val="2A2118"/>
                          </a:solidFill>
                          <a:latin typeface="Calibri"/>
                          <a:cs typeface="Calibri"/>
                          <a:ea typeface="Calibri"/>
                        </a:rPr>
                        <a:t>Location</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3.265</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32,65%</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4</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544068">
                <a:tc>
                  <a:txBody>
                    <a:bodyPr wrap="square" rIns="73152" tIns="36576" bIns="36576"/>
                    <a:lstStyle/>
                    <a:p>
                      <a:pPr algn="l"/>
                      <a:r>
                        <a:rPr sz="1200" b="1" i="0">
                          <a:solidFill>
                            <a:srgbClr val="2A2118"/>
                          </a:solidFill>
                          <a:latin typeface="Calibri"/>
                          <a:cs typeface="Calibri"/>
                          <a:ea typeface="Calibri"/>
                        </a:rPr>
                        <a:t>Transaction Date</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159</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1,59%</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object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200" b="0" i="0">
                          <a:solidFill>
                            <a:srgbClr val="2A2118"/>
                          </a:solidFill>
                          <a:latin typeface="Calibri"/>
                          <a:cs typeface="Calibri"/>
                          <a:ea typeface="Calibri"/>
                        </a:rPr>
                        <a:t>367</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bl>
          </a:graphicData>
        </a:graphic>
      </p:graphicFrame>
      <p:sp>
        <p:nvSpPr>
          <p:cNvPr id="15" name="Rounded Rectangle 14"/>
          <p:cNvSpPr/>
          <p:nvPr/>
        </p:nvSpPr>
        <p:spPr>
          <a:xfrm>
            <a:off x="8046720" y="1280160"/>
            <a:ext cx="3730752" cy="4681728"/>
          </a:xfrm>
          <a:prstGeom prst="roundRect">
            <a:avLst>
              <a:gd name="adj" fmla="val 4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46720" y="1280160"/>
            <a:ext cx="3730752" cy="73152"/>
          </a:xfrm>
          <a:prstGeom prst="rect">
            <a:avLst/>
          </a:prstGeom>
          <a:solidFill>
            <a:srgbClr val="A848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11312" y="1444752"/>
            <a:ext cx="3429000" cy="29260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400" b="1" i="0">
                <a:solidFill>
                  <a:srgbClr val="1A120C"/>
                </a:solidFill>
                <a:latin typeface="Calibri"/>
                <a:cs typeface="Calibri"/>
                <a:ea typeface="Calibri"/>
              </a:rPr>
              <a:t>Empat masalah utama</a:t>
            </a:r>
          </a:p>
        </p:txBody>
      </p:sp>
      <p:sp>
        <p:nvSpPr>
          <p:cNvPr id="18" name="TextBox 17"/>
          <p:cNvSpPr txBox="1"/>
          <p:nvPr/>
        </p:nvSpPr>
        <p:spPr>
          <a:xfrm>
            <a:off x="8211312" y="1828800"/>
            <a:ext cx="342900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A8883E"/>
                </a:solidFill>
                <a:latin typeface="Calibri"/>
                <a:cs typeface="Calibri"/>
                <a:ea typeface="Calibri"/>
              </a:rPr>
              <a:t>7 / 8 kolom missing</a:t>
            </a:r>
          </a:p>
        </p:txBody>
      </p:sp>
      <p:sp>
        <p:nvSpPr>
          <p:cNvPr id="19" name="TextBox 18"/>
          <p:cNvSpPr txBox="1"/>
          <p:nvPr/>
        </p:nvSpPr>
        <p:spPr>
          <a:xfrm>
            <a:off x="8211312" y="2103120"/>
            <a:ext cx="3429000" cy="640080"/>
          </a:xfrm>
          <a:prstGeom prst="rect">
            <a:avLst/>
          </a:prstGeom>
          <a:noFill/>
        </p:spPr>
        <p:txBody>
          <a:bodyPr wrap="square" lIns="36576" rIns="36576" tIns="18288" bIns="18288" anchor="t">
            <a:spAutoFit/>
          </a:bodyPr>
          <a:lstStyle/>
          <a:p>
            <a:pPr algn="l">
              <a:lnSpc>
                <a:spcPct val="108000"/>
              </a:lnSpc>
              <a:spcBef>
                <a:spcPts val="0"/>
              </a:spcBef>
              <a:spcAft>
                <a:spcPts val="0"/>
              </a:spcAft>
            </a:pPr>
            <a:r>
              <a:rPr sz="1200" b="0" i="0">
                <a:solidFill>
                  <a:srgbClr val="6B5E52"/>
                </a:solidFill>
                <a:latin typeface="Calibri"/>
                <a:cs typeface="Calibri"/>
                <a:ea typeface="Calibri"/>
              </a:rPr>
              <a:t>Hanya Transaction ID lengkap. Location 32,65% dan Payment Method 25,79% paling parah.</a:t>
            </a:r>
          </a:p>
        </p:txBody>
      </p:sp>
      <p:sp>
        <p:nvSpPr>
          <p:cNvPr id="20" name="TextBox 19"/>
          <p:cNvSpPr txBox="1"/>
          <p:nvPr/>
        </p:nvSpPr>
        <p:spPr>
          <a:xfrm>
            <a:off x="8211312" y="2816352"/>
            <a:ext cx="342900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A8883E"/>
                </a:solidFill>
                <a:latin typeface="Calibri"/>
                <a:cs typeface="Calibri"/>
                <a:ea typeface="Calibri"/>
              </a:rPr>
              <a:t>Semua bertipe object</a:t>
            </a:r>
          </a:p>
        </p:txBody>
      </p:sp>
      <p:sp>
        <p:nvSpPr>
          <p:cNvPr id="21" name="TextBox 20"/>
          <p:cNvSpPr txBox="1"/>
          <p:nvPr/>
        </p:nvSpPr>
        <p:spPr>
          <a:xfrm>
            <a:off x="8211312" y="3090672"/>
            <a:ext cx="3429000" cy="640080"/>
          </a:xfrm>
          <a:prstGeom prst="rect">
            <a:avLst/>
          </a:prstGeom>
          <a:noFill/>
        </p:spPr>
        <p:txBody>
          <a:bodyPr wrap="square" lIns="36576" rIns="36576" tIns="18288" bIns="18288" anchor="t">
            <a:spAutoFit/>
          </a:bodyPr>
          <a:lstStyle/>
          <a:p>
            <a:pPr algn="l">
              <a:lnSpc>
                <a:spcPct val="108000"/>
              </a:lnSpc>
              <a:spcBef>
                <a:spcPts val="0"/>
              </a:spcBef>
              <a:spcAft>
                <a:spcPts val="0"/>
              </a:spcAft>
            </a:pPr>
            <a:r>
              <a:rPr sz="1200" b="0" i="0">
                <a:solidFill>
                  <a:srgbClr val="6B5E52"/>
                </a:solidFill>
                <a:latin typeface="Calibri"/>
                <a:cs typeface="Calibri"/>
                <a:ea typeface="Calibri"/>
              </a:rPr>
              <a:t>Quantity, harga, total, dan tanggal tersimpan sebagai teks — tidak bisa dijumlah.</a:t>
            </a:r>
          </a:p>
        </p:txBody>
      </p:sp>
      <p:sp>
        <p:nvSpPr>
          <p:cNvPr id="22" name="TextBox 21"/>
          <p:cNvSpPr txBox="1"/>
          <p:nvPr/>
        </p:nvSpPr>
        <p:spPr>
          <a:xfrm>
            <a:off x="8211312" y="3803904"/>
            <a:ext cx="342900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A8883E"/>
                </a:solidFill>
                <a:latin typeface="Calibri"/>
                <a:cs typeface="Calibri"/>
                <a:ea typeface="Calibri"/>
              </a:rPr>
              <a:t>ERROR / UNKNOWN</a:t>
            </a:r>
          </a:p>
        </p:txBody>
      </p:sp>
      <p:sp>
        <p:nvSpPr>
          <p:cNvPr id="23" name="TextBox 22"/>
          <p:cNvSpPr txBox="1"/>
          <p:nvPr/>
        </p:nvSpPr>
        <p:spPr>
          <a:xfrm>
            <a:off x="8211312" y="4078224"/>
            <a:ext cx="3429000" cy="640080"/>
          </a:xfrm>
          <a:prstGeom prst="rect">
            <a:avLst/>
          </a:prstGeom>
          <a:noFill/>
        </p:spPr>
        <p:txBody>
          <a:bodyPr wrap="square" lIns="36576" rIns="36576" tIns="18288" bIns="18288" anchor="t">
            <a:spAutoFit/>
          </a:bodyPr>
          <a:lstStyle/>
          <a:p>
            <a:pPr algn="l">
              <a:lnSpc>
                <a:spcPct val="108000"/>
              </a:lnSpc>
              <a:spcBef>
                <a:spcPts val="0"/>
              </a:spcBef>
              <a:spcAft>
                <a:spcPts val="0"/>
              </a:spcAft>
            </a:pPr>
            <a:r>
              <a:rPr sz="1200" b="0" i="0">
                <a:solidFill>
                  <a:srgbClr val="6B5E52"/>
                </a:solidFill>
                <a:latin typeface="Calibri"/>
                <a:cs typeface="Calibri"/>
                <a:ea typeface="Calibri"/>
              </a:rPr>
              <a:t>Token invalid di item, kuantitas, harga, pembayaran, lokasi, dan tanggal.</a:t>
            </a:r>
          </a:p>
        </p:txBody>
      </p:sp>
      <p:sp>
        <p:nvSpPr>
          <p:cNvPr id="24" name="TextBox 23"/>
          <p:cNvSpPr txBox="1"/>
          <p:nvPr/>
        </p:nvSpPr>
        <p:spPr>
          <a:xfrm>
            <a:off x="8211312" y="4791456"/>
            <a:ext cx="342900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1" i="0">
                <a:solidFill>
                  <a:srgbClr val="A84832"/>
                </a:solidFill>
                <a:latin typeface="Calibri"/>
                <a:cs typeface="Calibri"/>
                <a:ea typeface="Calibri"/>
              </a:rPr>
              <a:t>Belum layak EDA</a:t>
            </a:r>
          </a:p>
        </p:txBody>
      </p:sp>
      <p:sp>
        <p:nvSpPr>
          <p:cNvPr id="25" name="TextBox 24"/>
          <p:cNvSpPr txBox="1"/>
          <p:nvPr/>
        </p:nvSpPr>
        <p:spPr>
          <a:xfrm>
            <a:off x="8211312" y="5065776"/>
            <a:ext cx="3429000" cy="640080"/>
          </a:xfrm>
          <a:prstGeom prst="rect">
            <a:avLst/>
          </a:prstGeom>
          <a:noFill/>
        </p:spPr>
        <p:txBody>
          <a:bodyPr wrap="square" lIns="36576" rIns="36576" tIns="18288" bIns="18288" anchor="t">
            <a:spAutoFit/>
          </a:bodyPr>
          <a:lstStyle/>
          <a:p>
            <a:pPr algn="l">
              <a:lnSpc>
                <a:spcPct val="108000"/>
              </a:lnSpc>
              <a:spcBef>
                <a:spcPts val="0"/>
              </a:spcBef>
              <a:spcAft>
                <a:spcPts val="0"/>
              </a:spcAft>
            </a:pPr>
            <a:r>
              <a:rPr sz="1200" b="0" i="0">
                <a:solidFill>
                  <a:srgbClr val="6B5E52"/>
                </a:solidFill>
                <a:latin typeface="Calibri"/>
                <a:cs typeface="Calibri"/>
                <a:ea typeface="Calibri"/>
              </a:rPr>
              <a:t>Raw data tidak bisa langsung diserahkan ke Data Analyst Senior.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841248"/>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841248"/>
            <a:ext cx="12191695" cy="34747"/>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icon_data.png"/>
          <p:cNvPicPr>
            <a:picLocks noChangeAspect="1"/>
          </p:cNvPicPr>
          <p:nvPr/>
        </p:nvPicPr>
        <p:blipFill>
          <a:blip r:embed="rId2"/>
          <a:stretch>
            <a:fillRect/>
          </a:stretch>
        </p:blipFill>
        <p:spPr>
          <a:xfrm>
            <a:off x="347472" y="201168"/>
            <a:ext cx="438912" cy="438912"/>
          </a:xfrm>
          <a:prstGeom prst="rect">
            <a:avLst/>
          </a:prstGeom>
        </p:spPr>
      </p:pic>
      <p:sp>
        <p:nvSpPr>
          <p:cNvPr id="6" name="TextBox 5"/>
          <p:cNvSpPr txBox="1"/>
          <p:nvPr/>
        </p:nvSpPr>
        <p:spPr>
          <a:xfrm>
            <a:off x="987552" y="128016"/>
            <a:ext cx="8412480" cy="38404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3  ·  Langkah-langkah Cleaning</a:t>
            </a:r>
          </a:p>
        </p:txBody>
      </p:sp>
      <p:sp>
        <p:nvSpPr>
          <p:cNvPr id="7" name="TextBox 6"/>
          <p:cNvSpPr txBox="1"/>
          <p:nvPr/>
        </p:nvSpPr>
        <p:spPr>
          <a:xfrm>
            <a:off x="987552" y="475488"/>
            <a:ext cx="8412480" cy="27432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0" i="0">
                <a:solidFill>
                  <a:srgbClr val="C4A35A"/>
                </a:solidFill>
                <a:latin typeface="Calibri"/>
                <a:cs typeface="Calibri"/>
                <a:ea typeface="Calibri"/>
              </a:rPr>
              <a:t>Empat tahap berurutan dari raw data sampai dataset terstandar</a:t>
            </a:r>
          </a:p>
        </p:txBody>
      </p:sp>
      <p:sp>
        <p:nvSpPr>
          <p:cNvPr id="8" name="Rounded Rectangle 7"/>
          <p:cNvSpPr/>
          <p:nvPr/>
        </p:nvSpPr>
        <p:spPr>
          <a:xfrm>
            <a:off x="10195560" y="237744"/>
            <a:ext cx="1600200" cy="365760"/>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95560" y="237744"/>
            <a:ext cx="1600200" cy="36576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100" b="1" i="0">
                <a:solidFill>
                  <a:srgbClr val="C4A35A"/>
                </a:solidFill>
                <a:latin typeface="Calibri"/>
                <a:cs typeface="Calibri"/>
                <a:ea typeface="Calibri"/>
              </a:rPr>
              <a:t>POIN 3</a:t>
            </a:r>
          </a:p>
        </p:txBody>
      </p:sp>
      <p:sp>
        <p:nvSpPr>
          <p:cNvPr id="10" name="Rectangle 9"/>
          <p:cNvSpPr/>
          <p:nvPr/>
        </p:nvSpPr>
        <p:spPr>
          <a:xfrm>
            <a:off x="0" y="6565392"/>
            <a:ext cx="12191695" cy="292608"/>
          </a:xfrm>
          <a:prstGeom prst="rect">
            <a:avLst/>
          </a:prstGeom>
          <a:solidFill>
            <a:srgbClr val="2A1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5760" y="6565392"/>
            <a:ext cx="8686800" cy="29260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000" b="0" i="0">
                <a:solidFill>
                  <a:srgbClr val="C9B89A"/>
                </a:solidFill>
                <a:latin typeface="Calibri"/>
                <a:cs typeface="Calibri"/>
                <a:ea typeface="Calibri"/>
              </a:rPr>
              <a:t>Ratu Dewi Kencana Sari  ·  Mini Project Mingguan</a:t>
            </a:r>
          </a:p>
        </p:txBody>
      </p:sp>
      <p:sp>
        <p:nvSpPr>
          <p:cNvPr id="12" name="TextBox 11"/>
          <p:cNvSpPr txBox="1"/>
          <p:nvPr/>
        </p:nvSpPr>
        <p:spPr>
          <a:xfrm>
            <a:off x="9692640" y="6565392"/>
            <a:ext cx="2103120" cy="29260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000" b="1" i="0">
                <a:solidFill>
                  <a:srgbClr val="C4A35A"/>
                </a:solidFill>
                <a:latin typeface="Calibri"/>
                <a:cs typeface="Calibri"/>
                <a:ea typeface="Calibri"/>
              </a:rPr>
              <a:t>04  /  08</a:t>
            </a:r>
          </a:p>
        </p:txBody>
      </p:sp>
      <p:sp>
        <p:nvSpPr>
          <p:cNvPr id="13" name="Rounded Rectangle 12"/>
          <p:cNvSpPr/>
          <p:nvPr/>
        </p:nvSpPr>
        <p:spPr>
          <a:xfrm>
            <a:off x="411480" y="1078992"/>
            <a:ext cx="5669280" cy="2304288"/>
          </a:xfrm>
          <a:prstGeom prst="roundRect">
            <a:avLst>
              <a:gd name="adj" fmla="val 5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078992"/>
            <a:ext cx="91440" cy="230428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67512" y="1225295"/>
            <a:ext cx="1005840" cy="36576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200" b="1" i="0">
                <a:solidFill>
                  <a:srgbClr val="C4A35A"/>
                </a:solidFill>
                <a:latin typeface="Calibri"/>
                <a:cs typeface="Calibri"/>
                <a:ea typeface="Calibri"/>
              </a:rPr>
              <a:t>01</a:t>
            </a:r>
          </a:p>
        </p:txBody>
      </p:sp>
      <p:sp>
        <p:nvSpPr>
          <p:cNvPr id="16" name="TextBox 15"/>
          <p:cNvSpPr txBox="1"/>
          <p:nvPr/>
        </p:nvSpPr>
        <p:spPr>
          <a:xfrm>
            <a:off x="1645920" y="1243584"/>
            <a:ext cx="4160520" cy="36576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800" b="1" i="0">
                <a:solidFill>
                  <a:srgbClr val="1A120C"/>
                </a:solidFill>
                <a:latin typeface="Calibri"/>
                <a:cs typeface="Calibri"/>
                <a:ea typeface="Calibri"/>
              </a:rPr>
              <a:t>Audit</a:t>
            </a:r>
          </a:p>
        </p:txBody>
      </p:sp>
      <p:sp>
        <p:nvSpPr>
          <p:cNvPr id="17" name="TextBox 16"/>
          <p:cNvSpPr txBox="1"/>
          <p:nvPr/>
        </p:nvSpPr>
        <p:spPr>
          <a:xfrm>
            <a:off x="667512" y="1719072"/>
            <a:ext cx="5212080" cy="868680"/>
          </a:xfrm>
          <a:prstGeom prst="rect">
            <a:avLst/>
          </a:prstGeom>
          <a:noFill/>
        </p:spPr>
        <p:txBody>
          <a:bodyPr wrap="square" lIns="36576" rIns="36576" tIns="18288" bIns="18288" anchor="t">
            <a:spAutoFit/>
          </a:bodyPr>
          <a:lstStyle/>
          <a:p>
            <a:pPr algn="l">
              <a:lnSpc>
                <a:spcPct val="115000"/>
              </a:lnSpc>
              <a:spcBef>
                <a:spcPts val="0"/>
              </a:spcBef>
              <a:spcAft>
                <a:spcPts val="0"/>
              </a:spcAft>
            </a:pPr>
            <a:r>
              <a:rPr sz="1400" b="0" i="0">
                <a:solidFill>
                  <a:srgbClr val="6B5E52"/>
                </a:solidFill>
                <a:latin typeface="Calibri"/>
                <a:cs typeface="Calibri"/>
                <a:ea typeface="Calibri"/>
              </a:rPr>
              <a:t>Deteksi missing, duplikat, tipe data, dan token ERROR/UNKNOWN.</a:t>
            </a:r>
          </a:p>
        </p:txBody>
      </p:sp>
      <p:sp>
        <p:nvSpPr>
          <p:cNvPr id="18" name="Rounded Rectangle 17"/>
          <p:cNvSpPr/>
          <p:nvPr/>
        </p:nvSpPr>
        <p:spPr>
          <a:xfrm>
            <a:off x="667512" y="2706624"/>
            <a:ext cx="5212080" cy="457200"/>
          </a:xfrm>
          <a:prstGeom prst="roundRect">
            <a:avLst>
              <a:gd name="adj" fmla="val 15000"/>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2706624"/>
            <a:ext cx="4992624" cy="45720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200" b="1" i="0">
                <a:solidFill>
                  <a:srgbClr val="1A120C"/>
                </a:solidFill>
                <a:latin typeface="Calibri"/>
                <a:cs typeface="Calibri"/>
                <a:ea typeface="Calibri"/>
              </a:rPr>
              <a:t>Initial Data Audit.xlsx</a:t>
            </a:r>
          </a:p>
        </p:txBody>
      </p:sp>
      <p:sp>
        <p:nvSpPr>
          <p:cNvPr id="20" name="Rounded Rectangle 19"/>
          <p:cNvSpPr/>
          <p:nvPr/>
        </p:nvSpPr>
        <p:spPr>
          <a:xfrm>
            <a:off x="6263640" y="1078992"/>
            <a:ext cx="5669280" cy="2304288"/>
          </a:xfrm>
          <a:prstGeom prst="roundRect">
            <a:avLst>
              <a:gd name="adj" fmla="val 5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63640" y="1078992"/>
            <a:ext cx="91440" cy="230428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19672" y="1225295"/>
            <a:ext cx="1005840" cy="36576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200" b="1" i="0">
                <a:solidFill>
                  <a:srgbClr val="C4A35A"/>
                </a:solidFill>
                <a:latin typeface="Calibri"/>
                <a:cs typeface="Calibri"/>
                <a:ea typeface="Calibri"/>
              </a:rPr>
              <a:t>02</a:t>
            </a:r>
          </a:p>
        </p:txBody>
      </p:sp>
      <p:sp>
        <p:nvSpPr>
          <p:cNvPr id="23" name="TextBox 22"/>
          <p:cNvSpPr txBox="1"/>
          <p:nvPr/>
        </p:nvSpPr>
        <p:spPr>
          <a:xfrm>
            <a:off x="7498080" y="1243584"/>
            <a:ext cx="4160520" cy="36576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800" b="1" i="0">
                <a:solidFill>
                  <a:srgbClr val="1A120C"/>
                </a:solidFill>
                <a:latin typeface="Calibri"/>
                <a:cs typeface="Calibri"/>
                <a:ea typeface="Calibri"/>
              </a:rPr>
              <a:t>Missing &amp; duplikat</a:t>
            </a:r>
          </a:p>
        </p:txBody>
      </p:sp>
      <p:sp>
        <p:nvSpPr>
          <p:cNvPr id="24" name="TextBox 23"/>
          <p:cNvSpPr txBox="1"/>
          <p:nvPr/>
        </p:nvSpPr>
        <p:spPr>
          <a:xfrm>
            <a:off x="6519672" y="1719072"/>
            <a:ext cx="5212080" cy="868680"/>
          </a:xfrm>
          <a:prstGeom prst="rect">
            <a:avLst/>
          </a:prstGeom>
          <a:noFill/>
        </p:spPr>
        <p:txBody>
          <a:bodyPr wrap="square" lIns="36576" rIns="36576" tIns="18288" bIns="18288" anchor="t">
            <a:spAutoFit/>
          </a:bodyPr>
          <a:lstStyle/>
          <a:p>
            <a:pPr algn="l">
              <a:lnSpc>
                <a:spcPct val="115000"/>
              </a:lnSpc>
              <a:spcBef>
                <a:spcPts val="0"/>
              </a:spcBef>
              <a:spcAft>
                <a:spcPts val="0"/>
              </a:spcAft>
            </a:pPr>
            <a:r>
              <a:rPr sz="1400" b="0" i="0">
                <a:solidFill>
                  <a:srgbClr val="6B5E52"/>
                </a:solidFill>
                <a:latin typeface="Calibri"/>
                <a:cs typeface="Calibri"/>
                <a:ea typeface="Calibri"/>
              </a:rPr>
              <a:t>Numerik → median. Kategori &amp; tanggal → modus. Duplikat dicek (hasil 0).</a:t>
            </a:r>
          </a:p>
        </p:txBody>
      </p:sp>
      <p:sp>
        <p:nvSpPr>
          <p:cNvPr id="25" name="Rounded Rectangle 24"/>
          <p:cNvSpPr/>
          <p:nvPr/>
        </p:nvSpPr>
        <p:spPr>
          <a:xfrm>
            <a:off x="6519672" y="2706624"/>
            <a:ext cx="5212080" cy="457200"/>
          </a:xfrm>
          <a:prstGeom prst="roundRect">
            <a:avLst>
              <a:gd name="adj" fmla="val 15000"/>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29400" y="2706624"/>
            <a:ext cx="4992624" cy="45720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200" b="1" i="0">
                <a:solidFill>
                  <a:srgbClr val="1A120C"/>
                </a:solidFill>
                <a:latin typeface="Calibri"/>
                <a:cs typeface="Calibri"/>
                <a:ea typeface="Calibri"/>
              </a:rPr>
              <a:t>Clean Dataset v1.csv</a:t>
            </a:r>
          </a:p>
        </p:txBody>
      </p:sp>
      <p:sp>
        <p:nvSpPr>
          <p:cNvPr id="27" name="Rounded Rectangle 26"/>
          <p:cNvSpPr/>
          <p:nvPr/>
        </p:nvSpPr>
        <p:spPr>
          <a:xfrm>
            <a:off x="411480" y="3547872"/>
            <a:ext cx="5669280" cy="2304288"/>
          </a:xfrm>
          <a:prstGeom prst="roundRect">
            <a:avLst>
              <a:gd name="adj" fmla="val 5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11480" y="3547872"/>
            <a:ext cx="91440" cy="230428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7512" y="3694176"/>
            <a:ext cx="1005840" cy="36576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200" b="1" i="0">
                <a:solidFill>
                  <a:srgbClr val="C4A35A"/>
                </a:solidFill>
                <a:latin typeface="Calibri"/>
                <a:cs typeface="Calibri"/>
                <a:ea typeface="Calibri"/>
              </a:rPr>
              <a:t>03</a:t>
            </a:r>
          </a:p>
        </p:txBody>
      </p:sp>
      <p:sp>
        <p:nvSpPr>
          <p:cNvPr id="30" name="TextBox 29"/>
          <p:cNvSpPr txBox="1"/>
          <p:nvPr/>
        </p:nvSpPr>
        <p:spPr>
          <a:xfrm>
            <a:off x="1645920" y="3712463"/>
            <a:ext cx="4160520" cy="36576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800" b="1" i="0">
                <a:solidFill>
                  <a:srgbClr val="1A120C"/>
                </a:solidFill>
                <a:latin typeface="Calibri"/>
                <a:cs typeface="Calibri"/>
                <a:ea typeface="Calibri"/>
              </a:rPr>
              <a:t>Standardisasi</a:t>
            </a:r>
          </a:p>
        </p:txBody>
      </p:sp>
      <p:sp>
        <p:nvSpPr>
          <p:cNvPr id="31" name="TextBox 30"/>
          <p:cNvSpPr txBox="1"/>
          <p:nvPr/>
        </p:nvSpPr>
        <p:spPr>
          <a:xfrm>
            <a:off x="667512" y="4187952"/>
            <a:ext cx="5212080" cy="868680"/>
          </a:xfrm>
          <a:prstGeom prst="rect">
            <a:avLst/>
          </a:prstGeom>
          <a:noFill/>
        </p:spPr>
        <p:txBody>
          <a:bodyPr wrap="square" lIns="36576" rIns="36576" tIns="18288" bIns="18288" anchor="t">
            <a:spAutoFit/>
          </a:bodyPr>
          <a:lstStyle/>
          <a:p>
            <a:pPr algn="l">
              <a:lnSpc>
                <a:spcPct val="115000"/>
              </a:lnSpc>
              <a:spcBef>
                <a:spcPts val="0"/>
              </a:spcBef>
              <a:spcAft>
                <a:spcPts val="0"/>
              </a:spcAft>
            </a:pPr>
            <a:r>
              <a:rPr sz="1400" b="0" i="0">
                <a:solidFill>
                  <a:srgbClr val="6B5E52"/>
                </a:solidFill>
                <a:latin typeface="Calibri"/>
                <a:cs typeface="Calibri"/>
                <a:ea typeface="Calibri"/>
              </a:rPr>
              <a:t>Nama kolom Title_Case + underscore. Teks UPPERCASE. Tanggal ISO 8601.</a:t>
            </a:r>
          </a:p>
        </p:txBody>
      </p:sp>
      <p:sp>
        <p:nvSpPr>
          <p:cNvPr id="32" name="Rounded Rectangle 31"/>
          <p:cNvSpPr/>
          <p:nvPr/>
        </p:nvSpPr>
        <p:spPr>
          <a:xfrm>
            <a:off x="667512" y="5175504"/>
            <a:ext cx="5212080" cy="457200"/>
          </a:xfrm>
          <a:prstGeom prst="roundRect">
            <a:avLst>
              <a:gd name="adj" fmla="val 15000"/>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77240" y="5175504"/>
            <a:ext cx="4992624" cy="45720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200" b="1" i="0">
                <a:solidFill>
                  <a:srgbClr val="1A120C"/>
                </a:solidFill>
                <a:latin typeface="Calibri"/>
                <a:cs typeface="Calibri"/>
                <a:ea typeface="Calibri"/>
              </a:rPr>
              <a:t>Clean Dataset v2.csv</a:t>
            </a:r>
          </a:p>
        </p:txBody>
      </p:sp>
      <p:sp>
        <p:nvSpPr>
          <p:cNvPr id="34" name="Rounded Rectangle 33"/>
          <p:cNvSpPr/>
          <p:nvPr/>
        </p:nvSpPr>
        <p:spPr>
          <a:xfrm>
            <a:off x="6263640" y="3547872"/>
            <a:ext cx="5669280" cy="2304288"/>
          </a:xfrm>
          <a:prstGeom prst="roundRect">
            <a:avLst>
              <a:gd name="adj" fmla="val 5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263640" y="3547872"/>
            <a:ext cx="91440" cy="230428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19672" y="3694176"/>
            <a:ext cx="1005840" cy="36576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200" b="1" i="0">
                <a:solidFill>
                  <a:srgbClr val="C4A35A"/>
                </a:solidFill>
                <a:latin typeface="Calibri"/>
                <a:cs typeface="Calibri"/>
                <a:ea typeface="Calibri"/>
              </a:rPr>
              <a:t>04</a:t>
            </a:r>
          </a:p>
        </p:txBody>
      </p:sp>
      <p:sp>
        <p:nvSpPr>
          <p:cNvPr id="37" name="TextBox 36"/>
          <p:cNvSpPr txBox="1"/>
          <p:nvPr/>
        </p:nvSpPr>
        <p:spPr>
          <a:xfrm>
            <a:off x="7498080" y="3712463"/>
            <a:ext cx="4160520" cy="36576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800" b="1" i="0">
                <a:solidFill>
                  <a:srgbClr val="1A120C"/>
                </a:solidFill>
                <a:latin typeface="Calibri"/>
                <a:cs typeface="Calibri"/>
                <a:ea typeface="Calibri"/>
              </a:rPr>
              <a:t>Feature engineering</a:t>
            </a:r>
          </a:p>
        </p:txBody>
      </p:sp>
      <p:sp>
        <p:nvSpPr>
          <p:cNvPr id="38" name="TextBox 37"/>
          <p:cNvSpPr txBox="1"/>
          <p:nvPr/>
        </p:nvSpPr>
        <p:spPr>
          <a:xfrm>
            <a:off x="6519672" y="4187952"/>
            <a:ext cx="5212080" cy="868680"/>
          </a:xfrm>
          <a:prstGeom prst="rect">
            <a:avLst/>
          </a:prstGeom>
          <a:noFill/>
        </p:spPr>
        <p:txBody>
          <a:bodyPr wrap="square" lIns="36576" rIns="36576" tIns="18288" bIns="18288" anchor="t">
            <a:spAutoFit/>
          </a:bodyPr>
          <a:lstStyle/>
          <a:p>
            <a:pPr algn="l">
              <a:lnSpc>
                <a:spcPct val="115000"/>
              </a:lnSpc>
              <a:spcBef>
                <a:spcPts val="0"/>
              </a:spcBef>
              <a:spcAft>
                <a:spcPts val="0"/>
              </a:spcAft>
            </a:pPr>
            <a:r>
              <a:rPr sz="1400" b="0" i="0">
                <a:solidFill>
                  <a:srgbClr val="6B5E52"/>
                </a:solidFill>
                <a:latin typeface="Calibri"/>
                <a:cs typeface="Calibri"/>
                <a:ea typeface="Calibri"/>
              </a:rPr>
              <a:t>Tambah Year dan Month dari Transaction_Date untuk tren dan seasonality.</a:t>
            </a:r>
          </a:p>
        </p:txBody>
      </p:sp>
      <p:sp>
        <p:nvSpPr>
          <p:cNvPr id="39" name="Rounded Rectangle 38"/>
          <p:cNvSpPr/>
          <p:nvPr/>
        </p:nvSpPr>
        <p:spPr>
          <a:xfrm>
            <a:off x="6519672" y="5175504"/>
            <a:ext cx="5212080" cy="457200"/>
          </a:xfrm>
          <a:prstGeom prst="roundRect">
            <a:avLst>
              <a:gd name="adj" fmla="val 15000"/>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629400" y="5175504"/>
            <a:ext cx="4992624" cy="45720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200" b="1" i="0">
                <a:solidFill>
                  <a:srgbClr val="1A120C"/>
                </a:solidFill>
                <a:latin typeface="Calibri"/>
                <a:cs typeface="Calibri"/>
                <a:ea typeface="Calibri"/>
              </a:rPr>
              <a:t>Final Clean Dataset.csv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841248"/>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841248"/>
            <a:ext cx="12191695" cy="34747"/>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icon_data.png"/>
          <p:cNvPicPr>
            <a:picLocks noChangeAspect="1"/>
          </p:cNvPicPr>
          <p:nvPr/>
        </p:nvPicPr>
        <p:blipFill>
          <a:blip r:embed="rId2"/>
          <a:stretch>
            <a:fillRect/>
          </a:stretch>
        </p:blipFill>
        <p:spPr>
          <a:xfrm>
            <a:off x="347472" y="201168"/>
            <a:ext cx="438912" cy="438912"/>
          </a:xfrm>
          <a:prstGeom prst="rect">
            <a:avLst/>
          </a:prstGeom>
        </p:spPr>
      </p:pic>
      <p:sp>
        <p:nvSpPr>
          <p:cNvPr id="6" name="TextBox 5"/>
          <p:cNvSpPr txBox="1"/>
          <p:nvPr/>
        </p:nvSpPr>
        <p:spPr>
          <a:xfrm>
            <a:off x="987552" y="128016"/>
            <a:ext cx="8412480" cy="38404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4  ·  Perubahan yang Dilakukan</a:t>
            </a:r>
          </a:p>
        </p:txBody>
      </p:sp>
      <p:sp>
        <p:nvSpPr>
          <p:cNvPr id="7" name="TextBox 6"/>
          <p:cNvSpPr txBox="1"/>
          <p:nvPr/>
        </p:nvSpPr>
        <p:spPr>
          <a:xfrm>
            <a:off x="987552" y="475488"/>
            <a:ext cx="8412480" cy="27432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0" i="0">
                <a:solidFill>
                  <a:srgbClr val="C4A35A"/>
                </a:solidFill>
                <a:latin typeface="Calibri"/>
                <a:cs typeface="Calibri"/>
                <a:ea typeface="Calibri"/>
              </a:rPr>
              <a:t>Sebelum versus sesudah — bukti konkret hasil cleaning</a:t>
            </a:r>
          </a:p>
        </p:txBody>
      </p:sp>
      <p:sp>
        <p:nvSpPr>
          <p:cNvPr id="8" name="Rounded Rectangle 7"/>
          <p:cNvSpPr/>
          <p:nvPr/>
        </p:nvSpPr>
        <p:spPr>
          <a:xfrm>
            <a:off x="10195560" y="237744"/>
            <a:ext cx="1600200" cy="365760"/>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95560" y="237744"/>
            <a:ext cx="1600200" cy="36576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100" b="1" i="0">
                <a:solidFill>
                  <a:srgbClr val="C4A35A"/>
                </a:solidFill>
                <a:latin typeface="Calibri"/>
                <a:cs typeface="Calibri"/>
                <a:ea typeface="Calibri"/>
              </a:rPr>
              <a:t>POIN 4</a:t>
            </a:r>
          </a:p>
        </p:txBody>
      </p:sp>
      <p:sp>
        <p:nvSpPr>
          <p:cNvPr id="10" name="Rectangle 9"/>
          <p:cNvSpPr/>
          <p:nvPr/>
        </p:nvSpPr>
        <p:spPr>
          <a:xfrm>
            <a:off x="0" y="6565392"/>
            <a:ext cx="12191695" cy="292608"/>
          </a:xfrm>
          <a:prstGeom prst="rect">
            <a:avLst/>
          </a:prstGeom>
          <a:solidFill>
            <a:srgbClr val="2A1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5760" y="6565392"/>
            <a:ext cx="8686800" cy="29260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000" b="0" i="0">
                <a:solidFill>
                  <a:srgbClr val="C9B89A"/>
                </a:solidFill>
                <a:latin typeface="Calibri"/>
                <a:cs typeface="Calibri"/>
                <a:ea typeface="Calibri"/>
              </a:rPr>
              <a:t>Ratu Dewi Kencana Sari  ·  Mini Project Mingguan</a:t>
            </a:r>
          </a:p>
        </p:txBody>
      </p:sp>
      <p:sp>
        <p:nvSpPr>
          <p:cNvPr id="12" name="TextBox 11"/>
          <p:cNvSpPr txBox="1"/>
          <p:nvPr/>
        </p:nvSpPr>
        <p:spPr>
          <a:xfrm>
            <a:off x="9692640" y="6565392"/>
            <a:ext cx="2103120" cy="29260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000" b="1" i="0">
                <a:solidFill>
                  <a:srgbClr val="C4A35A"/>
                </a:solidFill>
                <a:latin typeface="Calibri"/>
                <a:cs typeface="Calibri"/>
                <a:ea typeface="Calibri"/>
              </a:rPr>
              <a:t>05  /  08</a:t>
            </a:r>
          </a:p>
        </p:txBody>
      </p:sp>
      <p:graphicFrame>
        <p:nvGraphicFramePr>
          <p:cNvPr id="13" name="Table 12"/>
          <p:cNvGraphicFramePr>
            <a:graphicFrameLocks noGrp="1"/>
          </p:cNvGraphicFramePr>
          <p:nvPr/>
        </p:nvGraphicFramePr>
        <p:xfrm>
          <a:off x="411480" y="1060704"/>
          <a:ext cx="11365991" cy="3246114"/>
        </p:xfrm>
        <a:graphic>
          <a:graphicData uri="http://schemas.openxmlformats.org/drawingml/2006/table">
            <a:tbl>
              <a:tblPr firstRow="1" bandRow="1">
                <a:tableStyleId>{5C22544A-7EE6-4342-B048-85BDC9FD1C3A}</a:tableStyleId>
              </a:tblPr>
              <a:tblGrid>
                <a:gridCol w="2199869"/>
                <a:gridCol w="4583061"/>
                <a:gridCol w="4583061"/>
              </a:tblGrid>
              <a:tr h="329184">
                <a:tc>
                  <a:txBody>
                    <a:bodyPr wrap="square" rIns="73152" tIns="36576" bIns="36576"/>
                    <a:lstStyle/>
                    <a:p>
                      <a:pPr algn="l"/>
                      <a:r>
                        <a:rPr sz="1100" b="1" i="0">
                          <a:solidFill>
                            <a:srgbClr val="FFFCFA"/>
                          </a:solidFill>
                          <a:latin typeface="Calibri"/>
                          <a:cs typeface="Calibri"/>
                          <a:ea typeface="Calibri"/>
                        </a:rPr>
                        <a:t>Aspek</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Sebelum</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Sesudah</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r>
              <a:tr h="486155">
                <a:tc>
                  <a:txBody>
                    <a:bodyPr wrap="square" rIns="73152" tIns="36576" bIns="36576"/>
                    <a:lstStyle/>
                    <a:p>
                      <a:pPr algn="l"/>
                      <a:r>
                        <a:rPr sz="1300" b="1" i="0">
                          <a:solidFill>
                            <a:srgbClr val="2A2118"/>
                          </a:solidFill>
                          <a:latin typeface="Calibri"/>
                          <a:cs typeface="Calibri"/>
                          <a:ea typeface="Calibri"/>
                        </a:rPr>
                        <a:t>Missing value</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7 kolom terdampak (Location 32,65%)</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0 NaN pada seluruh kolom</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486155">
                <a:tc>
                  <a:txBody>
                    <a:bodyPr wrap="square" rIns="73152" tIns="36576" bIns="36576"/>
                    <a:lstStyle/>
                    <a:p>
                      <a:pPr algn="l"/>
                      <a:r>
                        <a:rPr sz="1300" b="1" i="0">
                          <a:solidFill>
                            <a:srgbClr val="2A2118"/>
                          </a:solidFill>
                          <a:latin typeface="Calibri"/>
                          <a:cs typeface="Calibri"/>
                          <a:ea typeface="Calibri"/>
                        </a:rPr>
                        <a:t>Tipe numerik</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Quantity, Price, Total = object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float  ·  median 3 / 3.0 / 8.0</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486155">
                <a:tc>
                  <a:txBody>
                    <a:bodyPr wrap="square" rIns="73152" tIns="36576" bIns="36576"/>
                    <a:lstStyle/>
                    <a:p>
                      <a:pPr algn="l"/>
                      <a:r>
                        <a:rPr sz="1300" b="1" i="0">
                          <a:solidFill>
                            <a:srgbClr val="2A2118"/>
                          </a:solidFill>
                          <a:latin typeface="Calibri"/>
                          <a:cs typeface="Calibri"/>
                          <a:ea typeface="Calibri"/>
                        </a:rPr>
                        <a:t>Nama kolom</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Price Per Unit, Payment Method</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Price_Per_Unit, Payment_Method</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486155">
                <a:tc>
                  <a:txBody>
                    <a:bodyPr wrap="square" rIns="73152" tIns="36576" bIns="36576"/>
                    <a:lstStyle/>
                    <a:p>
                      <a:pPr algn="l"/>
                      <a:r>
                        <a:rPr sz="1300" b="1" i="0">
                          <a:solidFill>
                            <a:srgbClr val="2A2118"/>
                          </a:solidFill>
                          <a:latin typeface="Calibri"/>
                          <a:cs typeface="Calibri"/>
                          <a:ea typeface="Calibri"/>
                        </a:rPr>
                        <a:t>Nilai kategori</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Coffee, Takeaway, Digital Wallet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COFFEE, TAKEAWAY, DIGITAL WALLET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486155">
                <a:tc>
                  <a:txBody>
                    <a:bodyPr wrap="square" rIns="73152" tIns="36576" bIns="36576"/>
                    <a:lstStyle/>
                    <a:p>
                      <a:pPr algn="l"/>
                      <a:r>
                        <a:rPr sz="1300" b="1" i="0">
                          <a:solidFill>
                            <a:srgbClr val="2A2118"/>
                          </a:solidFill>
                          <a:latin typeface="Calibri"/>
                          <a:cs typeface="Calibri"/>
                          <a:ea typeface="Calibri"/>
                        </a:rPr>
                        <a:t>Tanggal</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String heterogen + ERROR/UNKNOWN</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YYYY-MM-DD  (ISO 8601)</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486155">
                <a:tc>
                  <a:txBody>
                    <a:bodyPr wrap="square" rIns="73152" tIns="36576" bIns="36576"/>
                    <a:lstStyle/>
                    <a:p>
                      <a:pPr algn="l"/>
                      <a:r>
                        <a:rPr sz="1300" b="1" i="0">
                          <a:solidFill>
                            <a:srgbClr val="2A2118"/>
                          </a:solidFill>
                          <a:latin typeface="Calibri"/>
                          <a:cs typeface="Calibri"/>
                          <a:ea typeface="Calibri"/>
                        </a:rPr>
                        <a:t>Duplikat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Dicek di raw data</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300" b="0" i="0">
                          <a:solidFill>
                            <a:srgbClr val="2A2118"/>
                          </a:solidFill>
                          <a:latin typeface="Calibri"/>
                          <a:cs typeface="Calibri"/>
                          <a:ea typeface="Calibri"/>
                        </a:rPr>
                        <a:t>0 baris  ·  tidak ada yang dihapus</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bl>
          </a:graphicData>
        </a:graphic>
      </p:graphicFrame>
      <p:sp>
        <p:nvSpPr>
          <p:cNvPr id="14" name="Rounded Rectangle 13"/>
          <p:cNvSpPr/>
          <p:nvPr/>
        </p:nvSpPr>
        <p:spPr>
          <a:xfrm>
            <a:off x="411480" y="4480560"/>
            <a:ext cx="3703320" cy="1481328"/>
          </a:xfrm>
          <a:prstGeom prst="roundRect">
            <a:avLst>
              <a:gd name="adj" fmla="val 8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11480" y="4480560"/>
            <a:ext cx="3703320" cy="73152"/>
          </a:xfrm>
          <a:prstGeom prst="rect">
            <a:avLst/>
          </a:prstGeom>
          <a:solidFill>
            <a:srgbClr val="3A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4663440"/>
            <a:ext cx="3383280" cy="38404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800" b="1" i="0">
                <a:solidFill>
                  <a:srgbClr val="1A120C"/>
                </a:solidFill>
                <a:latin typeface="Calibri"/>
                <a:cs typeface="Calibri"/>
                <a:ea typeface="Calibri"/>
              </a:rPr>
              <a:t>NaN → 0</a:t>
            </a:r>
          </a:p>
        </p:txBody>
      </p:sp>
      <p:sp>
        <p:nvSpPr>
          <p:cNvPr id="17" name="TextBox 16"/>
          <p:cNvSpPr txBox="1"/>
          <p:nvPr/>
        </p:nvSpPr>
        <p:spPr>
          <a:xfrm>
            <a:off x="576072" y="5065776"/>
            <a:ext cx="3383280" cy="65836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Imputasi median &amp; modus selesai</a:t>
            </a:r>
          </a:p>
        </p:txBody>
      </p:sp>
      <p:sp>
        <p:nvSpPr>
          <p:cNvPr id="18" name="Rounded Rectangle 17"/>
          <p:cNvSpPr/>
          <p:nvPr/>
        </p:nvSpPr>
        <p:spPr>
          <a:xfrm>
            <a:off x="4261104" y="4480560"/>
            <a:ext cx="3703320" cy="1481328"/>
          </a:xfrm>
          <a:prstGeom prst="roundRect">
            <a:avLst>
              <a:gd name="adj" fmla="val 8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261104" y="4480560"/>
            <a:ext cx="3703320" cy="73152"/>
          </a:xfrm>
          <a:prstGeom prst="rect">
            <a:avLst/>
          </a:prstGeom>
          <a:solidFill>
            <a:srgbClr val="3A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25696" y="4663440"/>
            <a:ext cx="3383280" cy="38404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800" b="1" i="0">
                <a:solidFill>
                  <a:srgbClr val="1A120C"/>
                </a:solidFill>
                <a:latin typeface="Calibri"/>
                <a:cs typeface="Calibri"/>
                <a:ea typeface="Calibri"/>
              </a:rPr>
              <a:t>8 kolom terstandar</a:t>
            </a:r>
          </a:p>
        </p:txBody>
      </p:sp>
      <p:sp>
        <p:nvSpPr>
          <p:cNvPr id="21" name="TextBox 20"/>
          <p:cNvSpPr txBox="1"/>
          <p:nvPr/>
        </p:nvSpPr>
        <p:spPr>
          <a:xfrm>
            <a:off x="4425696" y="5065776"/>
            <a:ext cx="3383280" cy="65836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Siap di-query Python / SQL / Excel</a:t>
            </a:r>
          </a:p>
        </p:txBody>
      </p:sp>
      <p:sp>
        <p:nvSpPr>
          <p:cNvPr id="22" name="Rounded Rectangle 21"/>
          <p:cNvSpPr/>
          <p:nvPr/>
        </p:nvSpPr>
        <p:spPr>
          <a:xfrm>
            <a:off x="8110727" y="4480560"/>
            <a:ext cx="3703320" cy="1481328"/>
          </a:xfrm>
          <a:prstGeom prst="roundRect">
            <a:avLst>
              <a:gd name="adj" fmla="val 8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110727" y="4480560"/>
            <a:ext cx="3703320" cy="73152"/>
          </a:xfrm>
          <a:prstGeom prst="rect">
            <a:avLst/>
          </a:prstGeom>
          <a:solidFill>
            <a:srgbClr val="3A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75319" y="4663440"/>
            <a:ext cx="3383280" cy="38404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800" b="1" i="0">
                <a:solidFill>
                  <a:srgbClr val="1A120C"/>
                </a:solidFill>
                <a:latin typeface="Calibri"/>
                <a:cs typeface="Calibri"/>
                <a:ea typeface="Calibri"/>
              </a:rPr>
              <a:t>10.000 baris utuh</a:t>
            </a:r>
          </a:p>
        </p:txBody>
      </p:sp>
      <p:sp>
        <p:nvSpPr>
          <p:cNvPr id="25" name="TextBox 24"/>
          <p:cNvSpPr txBox="1"/>
          <p:nvPr/>
        </p:nvSpPr>
        <p:spPr>
          <a:xfrm>
            <a:off x="8275319" y="5065776"/>
            <a:ext cx="3383280" cy="65836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Tidak ada transaksi yang dibuang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841248"/>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841248"/>
            <a:ext cx="12191695" cy="34747"/>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icon_data.png"/>
          <p:cNvPicPr>
            <a:picLocks noChangeAspect="1"/>
          </p:cNvPicPr>
          <p:nvPr/>
        </p:nvPicPr>
        <p:blipFill>
          <a:blip r:embed="rId2"/>
          <a:stretch>
            <a:fillRect/>
          </a:stretch>
        </p:blipFill>
        <p:spPr>
          <a:xfrm>
            <a:off x="347472" y="201168"/>
            <a:ext cx="438912" cy="438912"/>
          </a:xfrm>
          <a:prstGeom prst="rect">
            <a:avLst/>
          </a:prstGeom>
        </p:spPr>
      </p:pic>
      <p:sp>
        <p:nvSpPr>
          <p:cNvPr id="6" name="TextBox 5"/>
          <p:cNvSpPr txBox="1"/>
          <p:nvPr/>
        </p:nvSpPr>
        <p:spPr>
          <a:xfrm>
            <a:off x="987552" y="128016"/>
            <a:ext cx="8412480" cy="38404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5  ·  Feature Engineering</a:t>
            </a:r>
          </a:p>
        </p:txBody>
      </p:sp>
      <p:sp>
        <p:nvSpPr>
          <p:cNvPr id="7" name="TextBox 6"/>
          <p:cNvSpPr txBox="1"/>
          <p:nvPr/>
        </p:nvSpPr>
        <p:spPr>
          <a:xfrm>
            <a:off x="987552" y="475488"/>
            <a:ext cx="8412480" cy="27432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0" i="0">
                <a:solidFill>
                  <a:srgbClr val="C4A35A"/>
                </a:solidFill>
                <a:latin typeface="Calibri"/>
                <a:cs typeface="Calibri"/>
                <a:ea typeface="Calibri"/>
              </a:rPr>
              <a:t>Dua kolom baru agar Senior Analyst tidak perlu mengurai tanggal berulang kali</a:t>
            </a:r>
          </a:p>
        </p:txBody>
      </p:sp>
      <p:sp>
        <p:nvSpPr>
          <p:cNvPr id="8" name="Rounded Rectangle 7"/>
          <p:cNvSpPr/>
          <p:nvPr/>
        </p:nvSpPr>
        <p:spPr>
          <a:xfrm>
            <a:off x="10195560" y="237744"/>
            <a:ext cx="1600200" cy="365760"/>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95560" y="237744"/>
            <a:ext cx="1600200" cy="36576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100" b="1" i="0">
                <a:solidFill>
                  <a:srgbClr val="C4A35A"/>
                </a:solidFill>
                <a:latin typeface="Calibri"/>
                <a:cs typeface="Calibri"/>
                <a:ea typeface="Calibri"/>
              </a:rPr>
              <a:t>POIN 5</a:t>
            </a:r>
          </a:p>
        </p:txBody>
      </p:sp>
      <p:sp>
        <p:nvSpPr>
          <p:cNvPr id="10" name="Rectangle 9"/>
          <p:cNvSpPr/>
          <p:nvPr/>
        </p:nvSpPr>
        <p:spPr>
          <a:xfrm>
            <a:off x="0" y="6565392"/>
            <a:ext cx="12191695" cy="292608"/>
          </a:xfrm>
          <a:prstGeom prst="rect">
            <a:avLst/>
          </a:prstGeom>
          <a:solidFill>
            <a:srgbClr val="2A1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5760" y="6565392"/>
            <a:ext cx="8686800" cy="29260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000" b="0" i="0">
                <a:solidFill>
                  <a:srgbClr val="C9B89A"/>
                </a:solidFill>
                <a:latin typeface="Calibri"/>
                <a:cs typeface="Calibri"/>
                <a:ea typeface="Calibri"/>
              </a:rPr>
              <a:t>Ratu Dewi Kencana Sari  ·  Mini Project Mingguan</a:t>
            </a:r>
          </a:p>
        </p:txBody>
      </p:sp>
      <p:sp>
        <p:nvSpPr>
          <p:cNvPr id="12" name="TextBox 11"/>
          <p:cNvSpPr txBox="1"/>
          <p:nvPr/>
        </p:nvSpPr>
        <p:spPr>
          <a:xfrm>
            <a:off x="9692640" y="6565392"/>
            <a:ext cx="2103120" cy="29260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000" b="1" i="0">
                <a:solidFill>
                  <a:srgbClr val="C4A35A"/>
                </a:solidFill>
                <a:latin typeface="Calibri"/>
                <a:cs typeface="Calibri"/>
                <a:ea typeface="Calibri"/>
              </a:rPr>
              <a:t>06  /  08</a:t>
            </a:r>
          </a:p>
        </p:txBody>
      </p:sp>
      <p:sp>
        <p:nvSpPr>
          <p:cNvPr id="13" name="Rounded Rectangle 12"/>
          <p:cNvSpPr/>
          <p:nvPr/>
        </p:nvSpPr>
        <p:spPr>
          <a:xfrm>
            <a:off x="411480" y="1078992"/>
            <a:ext cx="5532120" cy="3246120"/>
          </a:xfrm>
          <a:prstGeom prst="roundRect">
            <a:avLst>
              <a:gd name="adj" fmla="val 5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078992"/>
            <a:ext cx="5532120" cy="7315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94360" y="1280160"/>
            <a:ext cx="1417320" cy="292608"/>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94360" y="1280160"/>
            <a:ext cx="1417320" cy="292608"/>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000" b="1" i="0">
                <a:solidFill>
                  <a:srgbClr val="C4A35A"/>
                </a:solidFill>
                <a:latin typeface="Calibri"/>
                <a:cs typeface="Calibri"/>
                <a:ea typeface="Calibri"/>
              </a:rPr>
              <a:t>KOLOM BARU</a:t>
            </a:r>
          </a:p>
        </p:txBody>
      </p:sp>
      <p:sp>
        <p:nvSpPr>
          <p:cNvPr id="17" name="TextBox 16"/>
          <p:cNvSpPr txBox="1"/>
          <p:nvPr/>
        </p:nvSpPr>
        <p:spPr>
          <a:xfrm>
            <a:off x="2103120" y="1261872"/>
            <a:ext cx="3566160" cy="329184"/>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600" b="1" i="0">
                <a:solidFill>
                  <a:srgbClr val="1A120C"/>
                </a:solidFill>
                <a:latin typeface="Calibri"/>
                <a:cs typeface="Calibri"/>
                <a:ea typeface="Calibri"/>
              </a:rPr>
              <a:t>Year</a:t>
            </a:r>
          </a:p>
        </p:txBody>
      </p:sp>
      <p:sp>
        <p:nvSpPr>
          <p:cNvPr id="18" name="TextBox 17"/>
          <p:cNvSpPr txBox="1"/>
          <p:nvPr/>
        </p:nvSpPr>
        <p:spPr>
          <a:xfrm>
            <a:off x="594360" y="1700784"/>
            <a:ext cx="5166360" cy="36576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Sumber: Transaction_Date. Tipe: Integer.</a:t>
            </a:r>
          </a:p>
        </p:txBody>
      </p:sp>
      <p:sp>
        <p:nvSpPr>
          <p:cNvPr id="19" name="Rounded Rectangle 18"/>
          <p:cNvSpPr/>
          <p:nvPr/>
        </p:nvSpPr>
        <p:spPr>
          <a:xfrm>
            <a:off x="594360" y="2157984"/>
            <a:ext cx="5166360" cy="640080"/>
          </a:xfrm>
          <a:prstGeom prst="roundRect">
            <a:avLst>
              <a:gd name="adj" fmla="val 12000"/>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2157984"/>
            <a:ext cx="4892040" cy="64008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600" b="1" i="0">
                <a:solidFill>
                  <a:srgbClr val="1A120C"/>
                </a:solidFill>
                <a:latin typeface="Calibri"/>
                <a:cs typeface="Calibri"/>
                <a:ea typeface="Calibri"/>
              </a:rPr>
              <a:t>Year  =  Year(Transaction_Date)</a:t>
            </a:r>
          </a:p>
        </p:txBody>
      </p:sp>
      <p:sp>
        <p:nvSpPr>
          <p:cNvPr id="21" name="TextBox 20"/>
          <p:cNvSpPr txBox="1"/>
          <p:nvPr/>
        </p:nvSpPr>
        <p:spPr>
          <a:xfrm>
            <a:off x="594360" y="2926080"/>
            <a:ext cx="5166360" cy="1188720"/>
          </a:xfrm>
          <a:prstGeom prst="rect">
            <a:avLst/>
          </a:prstGeom>
          <a:noFill/>
        </p:spPr>
        <p:txBody>
          <a:bodyPr wrap="square" lIns="36576" rIns="36576" tIns="18288" bIns="18288" anchor="t">
            <a:spAutoFit/>
          </a:bodyPr>
          <a:lstStyle/>
          <a:p>
            <a:pPr algn="l">
              <a:lnSpc>
                <a:spcPct val="112000"/>
              </a:lnSpc>
              <a:spcBef>
                <a:spcPts val="0"/>
              </a:spcBef>
              <a:spcAft>
                <a:spcPts val="0"/>
              </a:spcAft>
            </a:pPr>
            <a:r>
              <a:rPr sz="1300" b="0" i="0">
                <a:solidFill>
                  <a:srgbClr val="2A2118"/>
                </a:solidFill>
                <a:latin typeface="Calibri"/>
                <a:cs typeface="Calibri"/>
                <a:ea typeface="Calibri"/>
              </a:rPr>
              <a:t>Tujuan: mengelompokkan performa penjualan per tren tahunan. Hasil: 9.540 transaksi tahun 2023; 460 baris tanpa tanggal valid setelah parsing ISO.</a:t>
            </a:r>
          </a:p>
        </p:txBody>
      </p:sp>
      <p:sp>
        <p:nvSpPr>
          <p:cNvPr id="22" name="Rounded Rectangle 21"/>
          <p:cNvSpPr/>
          <p:nvPr/>
        </p:nvSpPr>
        <p:spPr>
          <a:xfrm>
            <a:off x="6126480" y="1078992"/>
            <a:ext cx="5650992" cy="3246120"/>
          </a:xfrm>
          <a:prstGeom prst="roundRect">
            <a:avLst>
              <a:gd name="adj" fmla="val 5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26480" y="1078992"/>
            <a:ext cx="5650992" cy="7315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309360" y="1280160"/>
            <a:ext cx="1417320" cy="292608"/>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09360" y="1280160"/>
            <a:ext cx="1417320" cy="292608"/>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000" b="1" i="0">
                <a:solidFill>
                  <a:srgbClr val="C4A35A"/>
                </a:solidFill>
                <a:latin typeface="Calibri"/>
                <a:cs typeface="Calibri"/>
                <a:ea typeface="Calibri"/>
              </a:rPr>
              <a:t>KOLOM BARU</a:t>
            </a:r>
          </a:p>
        </p:txBody>
      </p:sp>
      <p:sp>
        <p:nvSpPr>
          <p:cNvPr id="26" name="TextBox 25"/>
          <p:cNvSpPr txBox="1"/>
          <p:nvPr/>
        </p:nvSpPr>
        <p:spPr>
          <a:xfrm>
            <a:off x="7818120" y="1261872"/>
            <a:ext cx="3657600" cy="329184"/>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600" b="1" i="0">
                <a:solidFill>
                  <a:srgbClr val="1A120C"/>
                </a:solidFill>
                <a:latin typeface="Calibri"/>
                <a:cs typeface="Calibri"/>
                <a:ea typeface="Calibri"/>
              </a:rPr>
              <a:t>Month</a:t>
            </a:r>
          </a:p>
        </p:txBody>
      </p:sp>
      <p:sp>
        <p:nvSpPr>
          <p:cNvPr id="27" name="TextBox 26"/>
          <p:cNvSpPr txBox="1"/>
          <p:nvPr/>
        </p:nvSpPr>
        <p:spPr>
          <a:xfrm>
            <a:off x="6309360" y="1700784"/>
            <a:ext cx="5257800" cy="36576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Sumber: Transaction_Date. Tipe: String (nama bulan).</a:t>
            </a:r>
          </a:p>
        </p:txBody>
      </p:sp>
      <p:sp>
        <p:nvSpPr>
          <p:cNvPr id="28" name="Rounded Rectangle 27"/>
          <p:cNvSpPr/>
          <p:nvPr/>
        </p:nvSpPr>
        <p:spPr>
          <a:xfrm>
            <a:off x="6309360" y="2157984"/>
            <a:ext cx="5285232" cy="640080"/>
          </a:xfrm>
          <a:prstGeom prst="roundRect">
            <a:avLst>
              <a:gd name="adj" fmla="val 12000"/>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46520" y="2157984"/>
            <a:ext cx="5010912" cy="64008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500" b="1" i="0">
                <a:solidFill>
                  <a:srgbClr val="1A120C"/>
                </a:solidFill>
                <a:latin typeface="Calibri"/>
                <a:cs typeface="Calibri"/>
                <a:ea typeface="Calibri"/>
              </a:rPr>
              <a:t>Month  =  Month_Name(Transaction_Date)</a:t>
            </a:r>
          </a:p>
        </p:txBody>
      </p:sp>
      <p:sp>
        <p:nvSpPr>
          <p:cNvPr id="30" name="TextBox 29"/>
          <p:cNvSpPr txBox="1"/>
          <p:nvPr/>
        </p:nvSpPr>
        <p:spPr>
          <a:xfrm>
            <a:off x="6309360" y="2926080"/>
            <a:ext cx="5257800" cy="1188720"/>
          </a:xfrm>
          <a:prstGeom prst="rect">
            <a:avLst/>
          </a:prstGeom>
          <a:noFill/>
        </p:spPr>
        <p:txBody>
          <a:bodyPr wrap="square" lIns="36576" rIns="36576" tIns="18288" bIns="18288" anchor="t">
            <a:spAutoFit/>
          </a:bodyPr>
          <a:lstStyle/>
          <a:p>
            <a:pPr algn="l">
              <a:lnSpc>
                <a:spcPct val="112000"/>
              </a:lnSpc>
              <a:spcBef>
                <a:spcPts val="0"/>
              </a:spcBef>
              <a:spcAft>
                <a:spcPts val="0"/>
              </a:spcAft>
            </a:pPr>
            <a:r>
              <a:rPr sz="1300" b="0" i="0">
                <a:solidFill>
                  <a:srgbClr val="2A2118"/>
                </a:solidFill>
                <a:latin typeface="Calibri"/>
                <a:cs typeface="Calibri"/>
                <a:ea typeface="Calibri"/>
              </a:rPr>
              <a:t>Tujuan: membaca pola musiman (seasonality). Hasil awal: Oktober bulan teramai — 838 transaksi, revenue $7.336,50.</a:t>
            </a:r>
          </a:p>
        </p:txBody>
      </p:sp>
      <p:sp>
        <p:nvSpPr>
          <p:cNvPr id="31" name="Rounded Rectangle 30"/>
          <p:cNvSpPr/>
          <p:nvPr/>
        </p:nvSpPr>
        <p:spPr>
          <a:xfrm>
            <a:off x="411480" y="4498848"/>
            <a:ext cx="11365992" cy="347472"/>
          </a:xfrm>
          <a:prstGeom prst="roundRect">
            <a:avLst>
              <a:gd name="adj" fmla="val 15000"/>
            </a:avLst>
          </a:prstGeom>
          <a:solidFill>
            <a:srgbClr val="EFE7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11480" y="4498848"/>
            <a:ext cx="73152" cy="347472"/>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4498848"/>
            <a:ext cx="10972800" cy="347472"/>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200" b="1" i="0">
                <a:solidFill>
                  <a:srgbClr val="1A120C"/>
                </a:solidFill>
                <a:latin typeface="Calibri"/>
                <a:cs typeface="Calibri"/>
                <a:ea typeface="Calibri"/>
              </a:rPr>
              <a:t>Dokumentasi   ·   Feature Engineering Documentation.xlsx</a:t>
            </a:r>
          </a:p>
        </p:txBody>
      </p:sp>
      <p:sp>
        <p:nvSpPr>
          <p:cNvPr id="34" name="Rounded Rectangle 33"/>
          <p:cNvSpPr/>
          <p:nvPr/>
        </p:nvSpPr>
        <p:spPr>
          <a:xfrm>
            <a:off x="411480" y="4956048"/>
            <a:ext cx="11365992" cy="1024128"/>
          </a:xfrm>
          <a:prstGeom prst="roundRect">
            <a:avLst>
              <a:gd name="adj" fmla="val 6000"/>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4956048"/>
            <a:ext cx="10972800" cy="102412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600" b="1" i="0">
                <a:solidFill>
                  <a:srgbClr val="FFFCFA"/>
                </a:solidFill>
                <a:latin typeface="Calibri"/>
                <a:cs typeface="Calibri"/>
                <a:ea typeface="Calibri"/>
              </a:rPr>
              <a:t>Kolom bertambah 8  →  10. Senior Analyst bisa langsung group-by Year atau Month tanpa formula tambahan.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841248"/>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841248"/>
            <a:ext cx="12191695" cy="34747"/>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icon_data.png"/>
          <p:cNvPicPr>
            <a:picLocks noChangeAspect="1"/>
          </p:cNvPicPr>
          <p:nvPr/>
        </p:nvPicPr>
        <p:blipFill>
          <a:blip r:embed="rId2"/>
          <a:stretch>
            <a:fillRect/>
          </a:stretch>
        </p:blipFill>
        <p:spPr>
          <a:xfrm>
            <a:off x="347472" y="201168"/>
            <a:ext cx="438912" cy="438912"/>
          </a:xfrm>
          <a:prstGeom prst="rect">
            <a:avLst/>
          </a:prstGeom>
        </p:spPr>
      </p:pic>
      <p:sp>
        <p:nvSpPr>
          <p:cNvPr id="6" name="TextBox 5"/>
          <p:cNvSpPr txBox="1"/>
          <p:nvPr/>
        </p:nvSpPr>
        <p:spPr>
          <a:xfrm>
            <a:off x="987552" y="128016"/>
            <a:ext cx="8412480" cy="38404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6  ·  Dataset Final</a:t>
            </a:r>
          </a:p>
        </p:txBody>
      </p:sp>
      <p:sp>
        <p:nvSpPr>
          <p:cNvPr id="7" name="TextBox 6"/>
          <p:cNvSpPr txBox="1"/>
          <p:nvPr/>
        </p:nvSpPr>
        <p:spPr>
          <a:xfrm>
            <a:off x="987552" y="475488"/>
            <a:ext cx="8412480" cy="27432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0" i="0">
                <a:solidFill>
                  <a:srgbClr val="C4A35A"/>
                </a:solidFill>
                <a:latin typeface="Calibri"/>
                <a:cs typeface="Calibri"/>
                <a:ea typeface="Calibri"/>
              </a:rPr>
              <a:t>File yang diserahkan kepada Data Analyst Senior</a:t>
            </a:r>
          </a:p>
        </p:txBody>
      </p:sp>
      <p:sp>
        <p:nvSpPr>
          <p:cNvPr id="8" name="Rounded Rectangle 7"/>
          <p:cNvSpPr/>
          <p:nvPr/>
        </p:nvSpPr>
        <p:spPr>
          <a:xfrm>
            <a:off x="10195560" y="237744"/>
            <a:ext cx="1600200" cy="365760"/>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95560" y="237744"/>
            <a:ext cx="1600200" cy="36576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100" b="1" i="0">
                <a:solidFill>
                  <a:srgbClr val="C4A35A"/>
                </a:solidFill>
                <a:latin typeface="Calibri"/>
                <a:cs typeface="Calibri"/>
                <a:ea typeface="Calibri"/>
              </a:rPr>
              <a:t>POIN 6</a:t>
            </a:r>
          </a:p>
        </p:txBody>
      </p:sp>
      <p:sp>
        <p:nvSpPr>
          <p:cNvPr id="10" name="Rectangle 9"/>
          <p:cNvSpPr/>
          <p:nvPr/>
        </p:nvSpPr>
        <p:spPr>
          <a:xfrm>
            <a:off x="0" y="6565392"/>
            <a:ext cx="12191695" cy="292608"/>
          </a:xfrm>
          <a:prstGeom prst="rect">
            <a:avLst/>
          </a:prstGeom>
          <a:solidFill>
            <a:srgbClr val="2A1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5760" y="6565392"/>
            <a:ext cx="8686800" cy="29260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000" b="0" i="0">
                <a:solidFill>
                  <a:srgbClr val="C9B89A"/>
                </a:solidFill>
                <a:latin typeface="Calibri"/>
                <a:cs typeface="Calibri"/>
                <a:ea typeface="Calibri"/>
              </a:rPr>
              <a:t>Ratu Dewi Kencana Sari  ·  Mini Project Mingguan</a:t>
            </a:r>
          </a:p>
        </p:txBody>
      </p:sp>
      <p:sp>
        <p:nvSpPr>
          <p:cNvPr id="12" name="TextBox 11"/>
          <p:cNvSpPr txBox="1"/>
          <p:nvPr/>
        </p:nvSpPr>
        <p:spPr>
          <a:xfrm>
            <a:off x="9692640" y="6565392"/>
            <a:ext cx="2103120" cy="29260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000" b="1" i="0">
                <a:solidFill>
                  <a:srgbClr val="C4A35A"/>
                </a:solidFill>
                <a:latin typeface="Calibri"/>
                <a:cs typeface="Calibri"/>
                <a:ea typeface="Calibri"/>
              </a:rPr>
              <a:t>07  /  08</a:t>
            </a:r>
          </a:p>
        </p:txBody>
      </p:sp>
      <p:sp>
        <p:nvSpPr>
          <p:cNvPr id="13" name="Rounded Rectangle 12"/>
          <p:cNvSpPr/>
          <p:nvPr/>
        </p:nvSpPr>
        <p:spPr>
          <a:xfrm>
            <a:off x="411480" y="1060704"/>
            <a:ext cx="4297680" cy="4919472"/>
          </a:xfrm>
          <a:prstGeom prst="roundRect">
            <a:avLst>
              <a:gd name="adj" fmla="val 5000"/>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1243584"/>
            <a:ext cx="3886200" cy="256032"/>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1" i="0">
                <a:solidFill>
                  <a:srgbClr val="C4A35A"/>
                </a:solidFill>
                <a:latin typeface="Calibri"/>
                <a:cs typeface="Calibri"/>
                <a:ea typeface="Calibri"/>
              </a:rPr>
              <a:t>FILE FINAL SIAP PAKAI</a:t>
            </a:r>
          </a:p>
        </p:txBody>
      </p:sp>
      <p:sp>
        <p:nvSpPr>
          <p:cNvPr id="15" name="TextBox 14"/>
          <p:cNvSpPr txBox="1"/>
          <p:nvPr/>
        </p:nvSpPr>
        <p:spPr>
          <a:xfrm>
            <a:off x="640080" y="1572768"/>
            <a:ext cx="3886200" cy="822960"/>
          </a:xfrm>
          <a:prstGeom prst="rect">
            <a:avLst/>
          </a:prstGeom>
          <a:noFill/>
        </p:spPr>
        <p:txBody>
          <a:bodyPr wrap="square" lIns="36576" rIns="36576" tIns="18288" bIns="18288" anchor="t">
            <a:spAutoFit/>
          </a:bodyPr>
          <a:lstStyle/>
          <a:p>
            <a:pPr algn="l">
              <a:lnSpc>
                <a:spcPct val="95000"/>
              </a:lnSpc>
              <a:spcBef>
                <a:spcPts val="0"/>
              </a:spcBef>
              <a:spcAft>
                <a:spcPts val="0"/>
              </a:spcAft>
            </a:pPr>
            <a:r>
              <a:rPr sz="2400" b="1" i="0">
                <a:solidFill>
                  <a:srgbClr val="FFFCFA"/>
                </a:solidFill>
                <a:latin typeface="Calibri"/>
                <a:cs typeface="Calibri"/>
                <a:ea typeface="Calibri"/>
              </a:rPr>
              <a:t>Final Clean</a:t>
            </a:r>
          </a:p>
          <a:p>
            <a:pPr algn="l">
              <a:lnSpc>
                <a:spcPct val="95000"/>
              </a:lnSpc>
              <a:spcBef>
                <a:spcPts val="0"/>
              </a:spcBef>
              <a:spcAft>
                <a:spcPts val="0"/>
              </a:spcAft>
            </a:pPr>
            <a:r>
              <a:rPr sz="2400" b="1" i="0">
                <a:solidFill>
                  <a:srgbClr val="FFFCFA"/>
                </a:solidFill>
                <a:latin typeface="Calibri"/>
                <a:cs typeface="Calibri"/>
                <a:ea typeface="Calibri"/>
              </a:rPr>
              <a:t>Dataset.csv</a:t>
            </a:r>
          </a:p>
        </p:txBody>
      </p:sp>
      <p:sp>
        <p:nvSpPr>
          <p:cNvPr id="16" name="Rectangle 15"/>
          <p:cNvSpPr/>
          <p:nvPr/>
        </p:nvSpPr>
        <p:spPr>
          <a:xfrm>
            <a:off x="685800" y="2487168"/>
            <a:ext cx="1463040" cy="25603"/>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2697480"/>
            <a:ext cx="3886200"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000" b="1" i="0">
                <a:solidFill>
                  <a:srgbClr val="FFFCFA"/>
                </a:solidFill>
                <a:latin typeface="Calibri"/>
                <a:cs typeface="Calibri"/>
                <a:ea typeface="Calibri"/>
              </a:rPr>
              <a:t>10.000</a:t>
            </a:r>
          </a:p>
        </p:txBody>
      </p:sp>
      <p:sp>
        <p:nvSpPr>
          <p:cNvPr id="18" name="TextBox 17"/>
          <p:cNvSpPr txBox="1"/>
          <p:nvPr/>
        </p:nvSpPr>
        <p:spPr>
          <a:xfrm>
            <a:off x="640080" y="3008376"/>
            <a:ext cx="3886200" cy="29260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C9B89A"/>
                </a:solidFill>
                <a:latin typeface="Calibri"/>
                <a:cs typeface="Calibri"/>
                <a:ea typeface="Calibri"/>
              </a:rPr>
              <a:t>baris transaksi</a:t>
            </a:r>
          </a:p>
        </p:txBody>
      </p:sp>
      <p:sp>
        <p:nvSpPr>
          <p:cNvPr id="19" name="TextBox 18"/>
          <p:cNvSpPr txBox="1"/>
          <p:nvPr/>
        </p:nvSpPr>
        <p:spPr>
          <a:xfrm>
            <a:off x="640080" y="3429000"/>
            <a:ext cx="3886200"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000" b="1" i="0">
                <a:solidFill>
                  <a:srgbClr val="FFFCFA"/>
                </a:solidFill>
                <a:latin typeface="Calibri"/>
                <a:cs typeface="Calibri"/>
                <a:ea typeface="Calibri"/>
              </a:rPr>
              <a:t>10</a:t>
            </a:r>
          </a:p>
        </p:txBody>
      </p:sp>
      <p:sp>
        <p:nvSpPr>
          <p:cNvPr id="20" name="TextBox 19"/>
          <p:cNvSpPr txBox="1"/>
          <p:nvPr/>
        </p:nvSpPr>
        <p:spPr>
          <a:xfrm>
            <a:off x="640080" y="3739896"/>
            <a:ext cx="3886200" cy="29260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C9B89A"/>
                </a:solidFill>
                <a:latin typeface="Calibri"/>
                <a:cs typeface="Calibri"/>
                <a:ea typeface="Calibri"/>
              </a:rPr>
              <a:t>kolom  (8 asli + Year + Month)</a:t>
            </a:r>
          </a:p>
        </p:txBody>
      </p:sp>
      <p:sp>
        <p:nvSpPr>
          <p:cNvPr id="21" name="TextBox 20"/>
          <p:cNvSpPr txBox="1"/>
          <p:nvPr/>
        </p:nvSpPr>
        <p:spPr>
          <a:xfrm>
            <a:off x="640080" y="4160520"/>
            <a:ext cx="3886200"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000" b="1" i="0">
                <a:solidFill>
                  <a:srgbClr val="FFFCFA"/>
                </a:solidFill>
                <a:latin typeface="Calibri"/>
                <a:cs typeface="Calibri"/>
                <a:ea typeface="Calibri"/>
              </a:rPr>
              <a:t>0</a:t>
            </a:r>
          </a:p>
        </p:txBody>
      </p:sp>
      <p:sp>
        <p:nvSpPr>
          <p:cNvPr id="22" name="TextBox 21"/>
          <p:cNvSpPr txBox="1"/>
          <p:nvPr/>
        </p:nvSpPr>
        <p:spPr>
          <a:xfrm>
            <a:off x="640080" y="4471416"/>
            <a:ext cx="3886200" cy="29260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C9B89A"/>
                </a:solidFill>
                <a:latin typeface="Calibri"/>
                <a:cs typeface="Calibri"/>
                <a:ea typeface="Calibri"/>
              </a:rPr>
              <a:t>duplikat  ·  0 missing NaN</a:t>
            </a:r>
          </a:p>
        </p:txBody>
      </p:sp>
      <p:sp>
        <p:nvSpPr>
          <p:cNvPr id="23" name="TextBox 22"/>
          <p:cNvSpPr txBox="1"/>
          <p:nvPr/>
        </p:nvSpPr>
        <p:spPr>
          <a:xfrm>
            <a:off x="640080" y="4892040"/>
            <a:ext cx="3886200" cy="32918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2000" b="1" i="0">
                <a:solidFill>
                  <a:srgbClr val="FFFCFA"/>
                </a:solidFill>
                <a:latin typeface="Calibri"/>
                <a:cs typeface="Calibri"/>
                <a:ea typeface="Calibri"/>
              </a:rPr>
              <a:t>2023</a:t>
            </a:r>
          </a:p>
        </p:txBody>
      </p:sp>
      <p:sp>
        <p:nvSpPr>
          <p:cNvPr id="24" name="TextBox 23"/>
          <p:cNvSpPr txBox="1"/>
          <p:nvPr/>
        </p:nvSpPr>
        <p:spPr>
          <a:xfrm>
            <a:off x="640080" y="5202936"/>
            <a:ext cx="3886200" cy="29260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C9B89A"/>
                </a:solidFill>
                <a:latin typeface="Calibri"/>
                <a:cs typeface="Calibri"/>
                <a:ea typeface="Calibri"/>
              </a:rPr>
              <a:t>tahun pada 9.540 baris bertanggal</a:t>
            </a:r>
          </a:p>
        </p:txBody>
      </p:sp>
      <p:sp>
        <p:nvSpPr>
          <p:cNvPr id="25" name="TextBox 24"/>
          <p:cNvSpPr txBox="1"/>
          <p:nvPr/>
        </p:nvSpPr>
        <p:spPr>
          <a:xfrm>
            <a:off x="4937760" y="1060704"/>
            <a:ext cx="6766560" cy="23774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1" i="0">
                <a:solidFill>
                  <a:srgbClr val="A8883E"/>
                </a:solidFill>
                <a:latin typeface="Calibri"/>
                <a:cs typeface="Calibri"/>
                <a:ea typeface="Calibri"/>
              </a:rPr>
              <a:t>SKEMA FINAL CLEAN DATASET</a:t>
            </a:r>
          </a:p>
        </p:txBody>
      </p:sp>
      <p:graphicFrame>
        <p:nvGraphicFramePr>
          <p:cNvPr id="26" name="Table 25"/>
          <p:cNvGraphicFramePr>
            <a:graphicFrameLocks noGrp="1"/>
          </p:cNvGraphicFramePr>
          <p:nvPr/>
        </p:nvGraphicFramePr>
        <p:xfrm>
          <a:off x="4937760" y="1335024"/>
          <a:ext cx="6839711" cy="3383274"/>
        </p:xfrm>
        <a:graphic>
          <a:graphicData uri="http://schemas.openxmlformats.org/drawingml/2006/table">
            <a:tbl>
              <a:tblPr firstRow="1" bandRow="1">
                <a:tableStyleId>{5C22544A-7EE6-4342-B048-85BDC9FD1C3A}</a:tableStyleId>
              </a:tblPr>
              <a:tblGrid>
                <a:gridCol w="2371100"/>
                <a:gridCol w="1367942"/>
                <a:gridCol w="3100669"/>
              </a:tblGrid>
              <a:tr h="329184">
                <a:tc>
                  <a:txBody>
                    <a:bodyPr wrap="square" rIns="73152" tIns="36576" bIns="36576"/>
                    <a:lstStyle/>
                    <a:p>
                      <a:pPr algn="l"/>
                      <a:r>
                        <a:rPr sz="1100" b="1" i="0">
                          <a:solidFill>
                            <a:srgbClr val="FFFCFA"/>
                          </a:solidFill>
                          <a:latin typeface="Calibri"/>
                          <a:cs typeface="Calibri"/>
                          <a:ea typeface="Calibri"/>
                        </a:rPr>
                        <a:t>Kolom</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Tipe</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c>
                  <a:txBody>
                    <a:bodyPr wrap="square" rIns="73152" tIns="36576" bIns="36576"/>
                    <a:lstStyle/>
                    <a:p>
                      <a:pPr algn="l"/>
                      <a:r>
                        <a:rPr sz="1100" b="1" i="0">
                          <a:solidFill>
                            <a:srgbClr val="FFFCFA"/>
                          </a:solidFill>
                          <a:latin typeface="Calibri"/>
                          <a:cs typeface="Calibri"/>
                          <a:ea typeface="Calibri"/>
                        </a:rPr>
                        <a:t>Keterangan</a:t>
                      </a:r>
                    </a:p>
                  </a:txBody>
                  <a:tcPr anchor="ctr">
                    <a:solidFill>
                      <a:srgbClr val="1A120C"/>
                    </a:solidFill>
                    <a:lnL w="6350" cap="flat" cmpd="sng" algn="ctr">
                      <a:solidFill>
                        <a:srgbClr val="1A120C"/>
                      </a:solidFill>
                      <a:prstDash val="solid"/>
                    </a:lnL>
                    <a:lnR w="6350" cap="flat" cmpd="sng" algn="ctr">
                      <a:solidFill>
                        <a:srgbClr val="1A120C"/>
                      </a:solidFill>
                      <a:prstDash val="solid"/>
                    </a:lnR>
                    <a:lnT w="6350" cap="flat" cmpd="sng" algn="ctr">
                      <a:solidFill>
                        <a:srgbClr val="1A120C"/>
                      </a:solidFill>
                      <a:prstDash val="solid"/>
                    </a:lnT>
                    <a:lnB w="6350" cap="flat" cmpd="sng" algn="ctr">
                      <a:solidFill>
                        <a:srgbClr val="1A120C"/>
                      </a:solidFill>
                      <a:prstDash val="solid"/>
                    </a:lnB>
                  </a:tcPr>
                </a:tc>
              </a:tr>
              <a:tr h="305409">
                <a:tc>
                  <a:txBody>
                    <a:bodyPr wrap="square" rIns="73152" tIns="36576" bIns="36576"/>
                    <a:lstStyle/>
                    <a:p>
                      <a:pPr algn="l"/>
                      <a:r>
                        <a:rPr sz="1100" b="1" i="0">
                          <a:solidFill>
                            <a:srgbClr val="2A2118"/>
                          </a:solidFill>
                          <a:latin typeface="Calibri"/>
                          <a:cs typeface="Calibri"/>
                          <a:ea typeface="Calibri"/>
                        </a:rPr>
                        <a:t>Transaction_ID</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object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ID unik, lengkap</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Item</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object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UPPERCASE</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Quantity</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float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Imputasi median</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Price_Per_Unit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float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Imputasi median</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Total_Spent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float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Imputasi median</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Payment_Method</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object</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UPPERCASE</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Location</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object</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UPPERCASE</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Transaction_Date</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date</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ISO 8601</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Year</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integer</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Fitur baru</a:t>
                      </a:r>
                    </a:p>
                  </a:txBody>
                  <a:tcPr anchor="ctr">
                    <a:solidFill>
                      <a:srgbClr val="FFFCF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r h="305409">
                <a:tc>
                  <a:txBody>
                    <a:bodyPr wrap="square" rIns="73152" tIns="36576" bIns="36576"/>
                    <a:lstStyle/>
                    <a:p>
                      <a:pPr algn="l"/>
                      <a:r>
                        <a:rPr sz="1100" b="1" i="0">
                          <a:solidFill>
                            <a:srgbClr val="2A2118"/>
                          </a:solidFill>
                          <a:latin typeface="Calibri"/>
                          <a:cs typeface="Calibri"/>
                          <a:ea typeface="Calibri"/>
                        </a:rPr>
                        <a:t>Month</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string</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c>
                  <a:txBody>
                    <a:bodyPr wrap="square" rIns="73152" tIns="36576" bIns="36576"/>
                    <a:lstStyle/>
                    <a:p>
                      <a:pPr algn="l"/>
                      <a:r>
                        <a:rPr sz="1100" b="0" i="0">
                          <a:solidFill>
                            <a:srgbClr val="2A2118"/>
                          </a:solidFill>
                          <a:latin typeface="Calibri"/>
                          <a:cs typeface="Calibri"/>
                          <a:ea typeface="Calibri"/>
                        </a:rPr>
                        <a:t>Fitur baru</a:t>
                      </a:r>
                    </a:p>
                  </a:txBody>
                  <a:tcPr anchor="ctr">
                    <a:solidFill>
                      <a:srgbClr val="F6F1EA"/>
                    </a:solidFill>
                    <a:lnL w="6350" cap="flat" cmpd="sng" algn="ctr">
                      <a:solidFill>
                        <a:srgbClr val="E2D8C8"/>
                      </a:solidFill>
                      <a:prstDash val="solid"/>
                    </a:lnL>
                    <a:lnR w="6350" cap="flat" cmpd="sng" algn="ctr">
                      <a:solidFill>
                        <a:srgbClr val="E2D8C8"/>
                      </a:solidFill>
                      <a:prstDash val="solid"/>
                    </a:lnR>
                    <a:lnT w="6350" cap="flat" cmpd="sng" algn="ctr">
                      <a:solidFill>
                        <a:srgbClr val="E2D8C8"/>
                      </a:solidFill>
                      <a:prstDash val="solid"/>
                    </a:lnT>
                    <a:lnB w="6350" cap="flat" cmpd="sng" algn="ctr">
                      <a:solidFill>
                        <a:srgbClr val="E2D8C8"/>
                      </a:solidFill>
                      <a:prstDash val="solid"/>
                    </a:lnB>
                  </a:tcPr>
                </a:tc>
              </a:tr>
            </a:tbl>
          </a:graphicData>
        </a:graphic>
      </p:graphicFrame>
      <p:sp>
        <p:nvSpPr>
          <p:cNvPr id="27" name="Rounded Rectangle 26"/>
          <p:cNvSpPr/>
          <p:nvPr/>
        </p:nvSpPr>
        <p:spPr>
          <a:xfrm>
            <a:off x="4937760" y="4864608"/>
            <a:ext cx="6839712" cy="1115568"/>
          </a:xfrm>
          <a:prstGeom prst="roundRect">
            <a:avLst>
              <a:gd name="adj" fmla="val 8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icon_clean.png"/>
          <p:cNvPicPr>
            <a:picLocks noChangeAspect="1"/>
          </p:cNvPicPr>
          <p:nvPr/>
        </p:nvPicPr>
        <p:blipFill>
          <a:blip r:embed="rId3"/>
          <a:stretch>
            <a:fillRect/>
          </a:stretch>
        </p:blipFill>
        <p:spPr>
          <a:xfrm>
            <a:off x="5102352" y="5047488"/>
            <a:ext cx="475488" cy="475488"/>
          </a:xfrm>
          <a:prstGeom prst="rect">
            <a:avLst/>
          </a:prstGeom>
        </p:spPr>
      </p:pic>
      <p:sp>
        <p:nvSpPr>
          <p:cNvPr id="29" name="TextBox 28"/>
          <p:cNvSpPr txBox="1"/>
          <p:nvPr/>
        </p:nvSpPr>
        <p:spPr>
          <a:xfrm>
            <a:off x="5687568" y="4974336"/>
            <a:ext cx="5897880" cy="36576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500" b="1" i="0">
                <a:solidFill>
                  <a:srgbClr val="1A120C"/>
                </a:solidFill>
                <a:latin typeface="Calibri"/>
                <a:cs typeface="Calibri"/>
                <a:ea typeface="Calibri"/>
              </a:rPr>
              <a:t>Siap diserahkan ke Data Analyst Senior</a:t>
            </a:r>
          </a:p>
        </p:txBody>
      </p:sp>
      <p:sp>
        <p:nvSpPr>
          <p:cNvPr id="30" name="TextBox 29"/>
          <p:cNvSpPr txBox="1"/>
          <p:nvPr/>
        </p:nvSpPr>
        <p:spPr>
          <a:xfrm>
            <a:off x="5687568" y="5358384"/>
            <a:ext cx="5897880" cy="45720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6B5E52"/>
                </a:solidFill>
                <a:latin typeface="Calibri"/>
                <a:cs typeface="Calibri"/>
                <a:ea typeface="Calibri"/>
              </a:rPr>
              <a:t>Untuk Exploratory Data Analysis, visualisasi, dan insight bisnis.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841248"/>
          </a:xfrm>
          <a:prstGeom prst="rect">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841248"/>
            <a:ext cx="12191695" cy="34747"/>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icon_data.png"/>
          <p:cNvPicPr>
            <a:picLocks noChangeAspect="1"/>
          </p:cNvPicPr>
          <p:nvPr/>
        </p:nvPicPr>
        <p:blipFill>
          <a:blip r:embed="rId2"/>
          <a:stretch>
            <a:fillRect/>
          </a:stretch>
        </p:blipFill>
        <p:spPr>
          <a:xfrm>
            <a:off x="347472" y="201168"/>
            <a:ext cx="438912" cy="438912"/>
          </a:xfrm>
          <a:prstGeom prst="rect">
            <a:avLst/>
          </a:prstGeom>
        </p:spPr>
      </p:pic>
      <p:sp>
        <p:nvSpPr>
          <p:cNvPr id="6" name="TextBox 5"/>
          <p:cNvSpPr txBox="1"/>
          <p:nvPr/>
        </p:nvSpPr>
        <p:spPr>
          <a:xfrm>
            <a:off x="987552" y="128016"/>
            <a:ext cx="8412480" cy="38404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7  ·  Insight Awal Setelah Cleaning</a:t>
            </a:r>
          </a:p>
        </p:txBody>
      </p:sp>
      <p:sp>
        <p:nvSpPr>
          <p:cNvPr id="7" name="TextBox 6"/>
          <p:cNvSpPr txBox="1"/>
          <p:nvPr/>
        </p:nvSpPr>
        <p:spPr>
          <a:xfrm>
            <a:off x="987552" y="475488"/>
            <a:ext cx="8412480" cy="27432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0" i="0">
                <a:solidFill>
                  <a:srgbClr val="C4A35A"/>
                </a:solidFill>
                <a:latin typeface="Calibri"/>
                <a:cs typeface="Calibri"/>
                <a:ea typeface="Calibri"/>
              </a:rPr>
              <a:t>Snapshot validasi — bukan hasil EDA lengkap  ·  siap tanya jawab</a:t>
            </a:r>
          </a:p>
        </p:txBody>
      </p:sp>
      <p:sp>
        <p:nvSpPr>
          <p:cNvPr id="8" name="Rounded Rectangle 7"/>
          <p:cNvSpPr/>
          <p:nvPr/>
        </p:nvSpPr>
        <p:spPr>
          <a:xfrm>
            <a:off x="10195560" y="237744"/>
            <a:ext cx="1600200" cy="365760"/>
          </a:xfrm>
          <a:prstGeom prst="roundRect">
            <a:avLst>
              <a:gd name="adj" fmla="val 50000"/>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95560" y="237744"/>
            <a:ext cx="1600200" cy="365760"/>
          </a:xfrm>
          <a:prstGeom prst="rect">
            <a:avLst/>
          </a:prstGeom>
          <a:noFill/>
        </p:spPr>
        <p:txBody>
          <a:bodyPr wrap="square" lIns="36576" rIns="36576" tIns="18288" bIns="18288" anchor="ctr">
            <a:spAutoFit/>
          </a:bodyPr>
          <a:lstStyle/>
          <a:p>
            <a:pPr algn="ctr">
              <a:lnSpc>
                <a:spcPct val="105000"/>
              </a:lnSpc>
              <a:spcBef>
                <a:spcPts val="0"/>
              </a:spcBef>
              <a:spcAft>
                <a:spcPts val="0"/>
              </a:spcAft>
            </a:pPr>
            <a:r>
              <a:rPr sz="1100" b="1" i="0">
                <a:solidFill>
                  <a:srgbClr val="C4A35A"/>
                </a:solidFill>
                <a:latin typeface="Calibri"/>
                <a:cs typeface="Calibri"/>
                <a:ea typeface="Calibri"/>
              </a:rPr>
              <a:t>POIN 7</a:t>
            </a:r>
          </a:p>
        </p:txBody>
      </p:sp>
      <p:sp>
        <p:nvSpPr>
          <p:cNvPr id="10" name="Rectangle 9"/>
          <p:cNvSpPr/>
          <p:nvPr/>
        </p:nvSpPr>
        <p:spPr>
          <a:xfrm>
            <a:off x="0" y="6565392"/>
            <a:ext cx="12191695" cy="292608"/>
          </a:xfrm>
          <a:prstGeom prst="rect">
            <a:avLst/>
          </a:prstGeom>
          <a:solidFill>
            <a:srgbClr val="2A1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5760" y="6565392"/>
            <a:ext cx="8686800" cy="29260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000" b="0" i="0">
                <a:solidFill>
                  <a:srgbClr val="C9B89A"/>
                </a:solidFill>
                <a:latin typeface="Calibri"/>
                <a:cs typeface="Calibri"/>
                <a:ea typeface="Calibri"/>
              </a:rPr>
              <a:t>Ratu Dewi Kencana Sari  ·  Mini Project Mingguan</a:t>
            </a:r>
          </a:p>
        </p:txBody>
      </p:sp>
      <p:sp>
        <p:nvSpPr>
          <p:cNvPr id="12" name="TextBox 11"/>
          <p:cNvSpPr txBox="1"/>
          <p:nvPr/>
        </p:nvSpPr>
        <p:spPr>
          <a:xfrm>
            <a:off x="9692640" y="6565392"/>
            <a:ext cx="2103120" cy="29260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000" b="1" i="0">
                <a:solidFill>
                  <a:srgbClr val="C4A35A"/>
                </a:solidFill>
                <a:latin typeface="Calibri"/>
                <a:cs typeface="Calibri"/>
                <a:ea typeface="Calibri"/>
              </a:rPr>
              <a:t>08  /  08</a:t>
            </a:r>
          </a:p>
        </p:txBody>
      </p:sp>
      <p:sp>
        <p:nvSpPr>
          <p:cNvPr id="13" name="Rounded Rectangle 12"/>
          <p:cNvSpPr/>
          <p:nvPr/>
        </p:nvSpPr>
        <p:spPr>
          <a:xfrm>
            <a:off x="411480" y="1060704"/>
            <a:ext cx="5532120" cy="1691640"/>
          </a:xfrm>
          <a:prstGeom prst="roundRect">
            <a:avLst>
              <a:gd name="adj" fmla="val 6000"/>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1170432"/>
            <a:ext cx="5074920" cy="23774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1" i="0">
                <a:solidFill>
                  <a:srgbClr val="C4A35A"/>
                </a:solidFill>
                <a:latin typeface="Calibri"/>
                <a:cs typeface="Calibri"/>
                <a:ea typeface="Calibri"/>
              </a:rPr>
              <a:t>TOTAL TRANSAKSI</a:t>
            </a:r>
          </a:p>
        </p:txBody>
      </p:sp>
      <p:sp>
        <p:nvSpPr>
          <p:cNvPr id="15" name="TextBox 14"/>
          <p:cNvSpPr txBox="1"/>
          <p:nvPr/>
        </p:nvSpPr>
        <p:spPr>
          <a:xfrm>
            <a:off x="640080" y="1408176"/>
            <a:ext cx="5074920" cy="64008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3600" b="1" i="0">
                <a:solidFill>
                  <a:srgbClr val="FFFCFA"/>
                </a:solidFill>
                <a:latin typeface="Calibri"/>
                <a:cs typeface="Calibri"/>
                <a:ea typeface="Calibri"/>
              </a:rPr>
              <a:t>10.000</a:t>
            </a:r>
          </a:p>
        </p:txBody>
      </p:sp>
      <p:sp>
        <p:nvSpPr>
          <p:cNvPr id="16" name="TextBox 15"/>
          <p:cNvSpPr txBox="1"/>
          <p:nvPr/>
        </p:nvSpPr>
        <p:spPr>
          <a:xfrm>
            <a:off x="640080" y="2084831"/>
            <a:ext cx="5074920"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C9B89A"/>
                </a:solidFill>
                <a:latin typeface="Calibri"/>
                <a:cs typeface="Calibri"/>
                <a:ea typeface="Calibri"/>
              </a:rPr>
              <a:t>Semua baris raw data dipertahankan.</a:t>
            </a:r>
          </a:p>
          <a:p>
            <a:pPr algn="l">
              <a:lnSpc>
                <a:spcPct val="105000"/>
              </a:lnSpc>
              <a:spcBef>
                <a:spcPts val="0"/>
              </a:spcBef>
              <a:spcAft>
                <a:spcPts val="0"/>
              </a:spcAft>
            </a:pPr>
            <a:r>
              <a:rPr sz="1200" b="0" i="0">
                <a:solidFill>
                  <a:srgbClr val="C9B89A"/>
                </a:solidFill>
                <a:latin typeface="Calibri"/>
                <a:cs typeface="Calibri"/>
                <a:ea typeface="Calibri"/>
              </a:rPr>
              <a:t>Tidak ada transaksi yang dibuang.</a:t>
            </a:r>
          </a:p>
        </p:txBody>
      </p:sp>
      <p:sp>
        <p:nvSpPr>
          <p:cNvPr id="17" name="Rounded Rectangle 16"/>
          <p:cNvSpPr/>
          <p:nvPr/>
        </p:nvSpPr>
        <p:spPr>
          <a:xfrm>
            <a:off x="6126480" y="1060704"/>
            <a:ext cx="5650992" cy="1691640"/>
          </a:xfrm>
          <a:prstGeom prst="roundRect">
            <a:avLst>
              <a:gd name="adj" fmla="val 6000"/>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55080" y="1170432"/>
            <a:ext cx="5212080" cy="237744"/>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100" b="1" i="0">
                <a:solidFill>
                  <a:srgbClr val="C4A35A"/>
                </a:solidFill>
                <a:latin typeface="Calibri"/>
                <a:cs typeface="Calibri"/>
                <a:ea typeface="Calibri"/>
              </a:rPr>
              <a:t>TOTAL PENDAPATAN</a:t>
            </a:r>
          </a:p>
        </p:txBody>
      </p:sp>
      <p:sp>
        <p:nvSpPr>
          <p:cNvPr id="19" name="TextBox 18"/>
          <p:cNvSpPr txBox="1"/>
          <p:nvPr/>
        </p:nvSpPr>
        <p:spPr>
          <a:xfrm>
            <a:off x="6355080" y="1408176"/>
            <a:ext cx="5212080" cy="640080"/>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3200" b="1" i="0">
                <a:solidFill>
                  <a:srgbClr val="FFFCFA"/>
                </a:solidFill>
                <a:latin typeface="Calibri"/>
                <a:cs typeface="Calibri"/>
                <a:ea typeface="Calibri"/>
              </a:rPr>
              <a:t>$88.779,50</a:t>
            </a:r>
          </a:p>
        </p:txBody>
      </p:sp>
      <p:sp>
        <p:nvSpPr>
          <p:cNvPr id="20" name="TextBox 19"/>
          <p:cNvSpPr txBox="1"/>
          <p:nvPr/>
        </p:nvSpPr>
        <p:spPr>
          <a:xfrm>
            <a:off x="6355080" y="2084831"/>
            <a:ext cx="5212080"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200" b="0" i="0">
                <a:solidFill>
                  <a:srgbClr val="C9B89A"/>
                </a:solidFill>
                <a:latin typeface="Calibri"/>
                <a:cs typeface="Calibri"/>
                <a:ea typeface="Calibri"/>
              </a:rPr>
              <a:t>Oktober teramai: 838 transaksi</a:t>
            </a:r>
          </a:p>
          <a:p>
            <a:pPr algn="l">
              <a:lnSpc>
                <a:spcPct val="105000"/>
              </a:lnSpc>
              <a:spcBef>
                <a:spcPts val="0"/>
              </a:spcBef>
              <a:spcAft>
                <a:spcPts val="0"/>
              </a:spcAft>
            </a:pPr>
            <a:r>
              <a:rPr sz="1200" b="0" i="0">
                <a:solidFill>
                  <a:srgbClr val="C9B89A"/>
                </a:solidFill>
                <a:latin typeface="Calibri"/>
                <a:cs typeface="Calibri"/>
                <a:ea typeface="Calibri"/>
              </a:rPr>
              <a:t>revenue $7.336,50.</a:t>
            </a:r>
          </a:p>
        </p:txBody>
      </p:sp>
      <p:sp>
        <p:nvSpPr>
          <p:cNvPr id="21" name="Rounded Rectangle 20"/>
          <p:cNvSpPr/>
          <p:nvPr/>
        </p:nvSpPr>
        <p:spPr>
          <a:xfrm>
            <a:off x="411480" y="2907792"/>
            <a:ext cx="3648456" cy="2212848"/>
          </a:xfrm>
          <a:prstGeom prst="roundRect">
            <a:avLst>
              <a:gd name="adj" fmla="val 6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icon_juice.png"/>
          <p:cNvPicPr>
            <a:picLocks noChangeAspect="1"/>
          </p:cNvPicPr>
          <p:nvPr/>
        </p:nvPicPr>
        <p:blipFill>
          <a:blip r:embed="rId3"/>
          <a:stretch>
            <a:fillRect/>
          </a:stretch>
        </p:blipFill>
        <p:spPr>
          <a:xfrm>
            <a:off x="576072" y="3035808"/>
            <a:ext cx="530352" cy="530352"/>
          </a:xfrm>
          <a:prstGeom prst="rect">
            <a:avLst/>
          </a:prstGeom>
        </p:spPr>
      </p:pic>
      <p:sp>
        <p:nvSpPr>
          <p:cNvPr id="23" name="TextBox 22"/>
          <p:cNvSpPr txBox="1"/>
          <p:nvPr/>
        </p:nvSpPr>
        <p:spPr>
          <a:xfrm>
            <a:off x="1197864" y="3072384"/>
            <a:ext cx="2642616" cy="45720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1" i="0">
                <a:solidFill>
                  <a:srgbClr val="A8883E"/>
                </a:solidFill>
                <a:latin typeface="Calibri"/>
                <a:cs typeface="Calibri"/>
                <a:ea typeface="Calibri"/>
              </a:rPr>
              <a:t>PRODUK TERLARIS</a:t>
            </a:r>
          </a:p>
        </p:txBody>
      </p:sp>
      <p:sp>
        <p:nvSpPr>
          <p:cNvPr id="24" name="TextBox 23"/>
          <p:cNvSpPr txBox="1"/>
          <p:nvPr/>
        </p:nvSpPr>
        <p:spPr>
          <a:xfrm>
            <a:off x="576072" y="3657600"/>
            <a:ext cx="3319272" cy="64008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800" b="1" i="0">
                <a:solidFill>
                  <a:srgbClr val="1A120C"/>
                </a:solidFill>
                <a:latin typeface="Calibri"/>
                <a:cs typeface="Calibri"/>
                <a:ea typeface="Calibri"/>
              </a:rPr>
              <a:t>JUICE</a:t>
            </a:r>
          </a:p>
        </p:txBody>
      </p:sp>
      <p:sp>
        <p:nvSpPr>
          <p:cNvPr id="25" name="Rectangle 24"/>
          <p:cNvSpPr/>
          <p:nvPr/>
        </p:nvSpPr>
        <p:spPr>
          <a:xfrm>
            <a:off x="576072" y="4370832"/>
            <a:ext cx="1005840" cy="22860"/>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76072" y="4480560"/>
            <a:ext cx="3319272"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1.504 transaksi</a:t>
            </a:r>
          </a:p>
        </p:txBody>
      </p:sp>
      <p:sp>
        <p:nvSpPr>
          <p:cNvPr id="27" name="Rounded Rectangle 26"/>
          <p:cNvSpPr/>
          <p:nvPr/>
        </p:nvSpPr>
        <p:spPr>
          <a:xfrm>
            <a:off x="4261104" y="2907792"/>
            <a:ext cx="3648456" cy="2212848"/>
          </a:xfrm>
          <a:prstGeom prst="roundRect">
            <a:avLst>
              <a:gd name="adj" fmla="val 6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icon_wallet.png"/>
          <p:cNvPicPr>
            <a:picLocks noChangeAspect="1"/>
          </p:cNvPicPr>
          <p:nvPr/>
        </p:nvPicPr>
        <p:blipFill>
          <a:blip r:embed="rId4"/>
          <a:stretch>
            <a:fillRect/>
          </a:stretch>
        </p:blipFill>
        <p:spPr>
          <a:xfrm>
            <a:off x="4425696" y="3035808"/>
            <a:ext cx="530352" cy="530352"/>
          </a:xfrm>
          <a:prstGeom prst="rect">
            <a:avLst/>
          </a:prstGeom>
        </p:spPr>
      </p:pic>
      <p:sp>
        <p:nvSpPr>
          <p:cNvPr id="29" name="TextBox 28"/>
          <p:cNvSpPr txBox="1"/>
          <p:nvPr/>
        </p:nvSpPr>
        <p:spPr>
          <a:xfrm>
            <a:off x="5047488" y="3072384"/>
            <a:ext cx="2642616" cy="45720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1" i="0">
                <a:solidFill>
                  <a:srgbClr val="A8883E"/>
                </a:solidFill>
                <a:latin typeface="Calibri"/>
                <a:cs typeface="Calibri"/>
                <a:ea typeface="Calibri"/>
              </a:rPr>
              <a:t>METODE BAYAR</a:t>
            </a:r>
          </a:p>
        </p:txBody>
      </p:sp>
      <p:sp>
        <p:nvSpPr>
          <p:cNvPr id="30" name="TextBox 29"/>
          <p:cNvSpPr txBox="1"/>
          <p:nvPr/>
        </p:nvSpPr>
        <p:spPr>
          <a:xfrm>
            <a:off x="4425696" y="3657600"/>
            <a:ext cx="3319272" cy="64008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800" b="1" i="0">
                <a:solidFill>
                  <a:srgbClr val="1A120C"/>
                </a:solidFill>
                <a:latin typeface="Calibri"/>
                <a:cs typeface="Calibri"/>
                <a:ea typeface="Calibri"/>
              </a:rPr>
              <a:t>DIGITAL WALLET</a:t>
            </a:r>
          </a:p>
        </p:txBody>
      </p:sp>
      <p:sp>
        <p:nvSpPr>
          <p:cNvPr id="31" name="Rectangle 30"/>
          <p:cNvSpPr/>
          <p:nvPr/>
        </p:nvSpPr>
        <p:spPr>
          <a:xfrm>
            <a:off x="4425696" y="4370832"/>
            <a:ext cx="1005840" cy="22860"/>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425696" y="4480560"/>
            <a:ext cx="3319272"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4.870 transaksi</a:t>
            </a:r>
          </a:p>
        </p:txBody>
      </p:sp>
      <p:sp>
        <p:nvSpPr>
          <p:cNvPr id="33" name="Rounded Rectangle 32"/>
          <p:cNvSpPr/>
          <p:nvPr/>
        </p:nvSpPr>
        <p:spPr>
          <a:xfrm>
            <a:off x="8110727" y="2907792"/>
            <a:ext cx="3648456" cy="2212848"/>
          </a:xfrm>
          <a:prstGeom prst="roundRect">
            <a:avLst>
              <a:gd name="adj" fmla="val 6000"/>
            </a:avLst>
          </a:prstGeom>
          <a:solidFill>
            <a:srgbClr val="FFFCFA"/>
          </a:solidFill>
          <a:ln w="12700">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icon_takeaway.png"/>
          <p:cNvPicPr>
            <a:picLocks noChangeAspect="1"/>
          </p:cNvPicPr>
          <p:nvPr/>
        </p:nvPicPr>
        <p:blipFill>
          <a:blip r:embed="rId5"/>
          <a:stretch>
            <a:fillRect/>
          </a:stretch>
        </p:blipFill>
        <p:spPr>
          <a:xfrm>
            <a:off x="8275319" y="3035808"/>
            <a:ext cx="530352" cy="530352"/>
          </a:xfrm>
          <a:prstGeom prst="rect">
            <a:avLst/>
          </a:prstGeom>
        </p:spPr>
      </p:pic>
      <p:sp>
        <p:nvSpPr>
          <p:cNvPr id="35" name="TextBox 34"/>
          <p:cNvSpPr txBox="1"/>
          <p:nvPr/>
        </p:nvSpPr>
        <p:spPr>
          <a:xfrm>
            <a:off x="8897111" y="3072384"/>
            <a:ext cx="2642616" cy="45720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100" b="1" i="0">
                <a:solidFill>
                  <a:srgbClr val="A8883E"/>
                </a:solidFill>
                <a:latin typeface="Calibri"/>
                <a:cs typeface="Calibri"/>
                <a:ea typeface="Calibri"/>
              </a:rPr>
              <a:t>LOKASI</a:t>
            </a:r>
          </a:p>
        </p:txBody>
      </p:sp>
      <p:sp>
        <p:nvSpPr>
          <p:cNvPr id="36" name="TextBox 35"/>
          <p:cNvSpPr txBox="1"/>
          <p:nvPr/>
        </p:nvSpPr>
        <p:spPr>
          <a:xfrm>
            <a:off x="8275319" y="3657600"/>
            <a:ext cx="3319272" cy="640080"/>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1800" b="1" i="0">
                <a:solidFill>
                  <a:srgbClr val="1A120C"/>
                </a:solidFill>
                <a:latin typeface="Calibri"/>
                <a:cs typeface="Calibri"/>
                <a:ea typeface="Calibri"/>
              </a:rPr>
              <a:t>TAKEAWAY</a:t>
            </a:r>
          </a:p>
        </p:txBody>
      </p:sp>
      <p:sp>
        <p:nvSpPr>
          <p:cNvPr id="37" name="Rectangle 36"/>
          <p:cNvSpPr/>
          <p:nvPr/>
        </p:nvSpPr>
        <p:spPr>
          <a:xfrm>
            <a:off x="8275319" y="4370832"/>
            <a:ext cx="1005840" cy="22860"/>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275319" y="4480560"/>
            <a:ext cx="3319272" cy="475488"/>
          </a:xfrm>
          <a:prstGeom prst="rect">
            <a:avLst/>
          </a:prstGeom>
          <a:noFill/>
        </p:spPr>
        <p:txBody>
          <a:bodyPr wrap="square" lIns="36576" rIns="36576" tIns="18288" bIns="18288" anchor="t">
            <a:spAutoFit/>
          </a:bodyPr>
          <a:lstStyle/>
          <a:p>
            <a:pPr algn="l">
              <a:lnSpc>
                <a:spcPct val="105000"/>
              </a:lnSpc>
              <a:spcBef>
                <a:spcPts val="0"/>
              </a:spcBef>
              <a:spcAft>
                <a:spcPts val="0"/>
              </a:spcAft>
            </a:pPr>
            <a:r>
              <a:rPr sz="1300" b="0" i="0">
                <a:solidFill>
                  <a:srgbClr val="6B5E52"/>
                </a:solidFill>
                <a:latin typeface="Calibri"/>
                <a:cs typeface="Calibri"/>
                <a:ea typeface="Calibri"/>
              </a:rPr>
              <a:t>6.287 transaksi</a:t>
            </a:r>
          </a:p>
        </p:txBody>
      </p:sp>
      <p:sp>
        <p:nvSpPr>
          <p:cNvPr id="39" name="Rounded Rectangle 38"/>
          <p:cNvSpPr/>
          <p:nvPr/>
        </p:nvSpPr>
        <p:spPr>
          <a:xfrm>
            <a:off x="411480" y="5285232"/>
            <a:ext cx="11365992" cy="1115568"/>
          </a:xfrm>
          <a:prstGeom prst="roundRect">
            <a:avLst>
              <a:gd name="adj" fmla="val 6000"/>
            </a:avLst>
          </a:prstGeom>
          <a:solidFill>
            <a:srgbClr val="1A12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5285232"/>
            <a:ext cx="6766560" cy="1115568"/>
          </a:xfrm>
          <a:prstGeom prst="rect">
            <a:avLst/>
          </a:prstGeom>
          <a:noFill/>
        </p:spPr>
        <p:txBody>
          <a:bodyPr wrap="square" lIns="36576" rIns="36576" tIns="18288" bIns="18288" anchor="ctr">
            <a:spAutoFit/>
          </a:bodyPr>
          <a:lstStyle/>
          <a:p>
            <a:pPr algn="l">
              <a:lnSpc>
                <a:spcPct val="105000"/>
              </a:lnSpc>
              <a:spcBef>
                <a:spcPts val="0"/>
              </a:spcBef>
              <a:spcAft>
                <a:spcPts val="0"/>
              </a:spcAft>
            </a:pPr>
            <a:r>
              <a:rPr sz="2000" b="1" i="0">
                <a:solidFill>
                  <a:srgbClr val="FFFCFA"/>
                </a:solidFill>
                <a:latin typeface="Calibri"/>
                <a:cs typeface="Calibri"/>
                <a:ea typeface="Calibri"/>
              </a:rPr>
              <a:t>Terima kasih.  Sesi tanya jawab.</a:t>
            </a:r>
          </a:p>
        </p:txBody>
      </p:sp>
      <p:sp>
        <p:nvSpPr>
          <p:cNvPr id="41" name="TextBox 40"/>
          <p:cNvSpPr txBox="1"/>
          <p:nvPr/>
        </p:nvSpPr>
        <p:spPr>
          <a:xfrm>
            <a:off x="7406640" y="5285232"/>
            <a:ext cx="4114800" cy="1115568"/>
          </a:xfrm>
          <a:prstGeom prst="rect">
            <a:avLst/>
          </a:prstGeom>
          <a:noFill/>
        </p:spPr>
        <p:txBody>
          <a:bodyPr wrap="square" lIns="36576" rIns="36576" tIns="18288" bIns="18288" anchor="ctr">
            <a:spAutoFit/>
          </a:bodyPr>
          <a:lstStyle/>
          <a:p>
            <a:pPr algn="r">
              <a:lnSpc>
                <a:spcPct val="105000"/>
              </a:lnSpc>
              <a:spcBef>
                <a:spcPts val="0"/>
              </a:spcBef>
              <a:spcAft>
                <a:spcPts val="0"/>
              </a:spcAft>
            </a:pPr>
            <a:r>
              <a:rPr sz="1300" b="0" i="0">
                <a:solidFill>
                  <a:srgbClr val="C9B89A"/>
                </a:solidFill>
                <a:latin typeface="Calibri"/>
                <a:cs typeface="Calibri"/>
                <a:ea typeface="Calibri"/>
              </a:rPr>
              <a:t>File: Final Clean Dataset.csv</a:t>
            </a:r>
          </a:p>
          <a:p>
            <a:pPr algn="r">
              <a:lnSpc>
                <a:spcPct val="105000"/>
              </a:lnSpc>
              <a:spcBef>
                <a:spcPts val="0"/>
              </a:spcBef>
              <a:spcAft>
                <a:spcPts val="0"/>
              </a:spcAft>
            </a:pPr>
            <a:r>
              <a:rPr sz="1300" b="0" i="0">
                <a:solidFill>
                  <a:srgbClr val="C9B89A"/>
                </a:solidFill>
                <a:latin typeface="Calibri"/>
                <a:cs typeface="Calibri"/>
                <a:ea typeface="Calibri"/>
              </a:rPr>
              <a:t>Siap EDA oleh Data Analyst Senior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Mingguan — Data Cleaning &amp; Preparation: Cafe Sales Dataset</dc:title>
  <dc:subject>Studi kasus Junior Data Analyst — 7 poin presentasi</dc:subject>
  <dc:creator>Ratu Dewi Kencana Sari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Mini Project Mingguan</cp:category>
</cp:coreProperties>
</file>